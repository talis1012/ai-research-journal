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52a04729654921" /><Relationship Type="http://schemas.openxmlformats.org/officeDocument/2006/relationships/extended-properties" Target="/docProps/app.xml" Id="R1d60ff43ee7d4f3a" /><Relationship Type="http://schemas.openxmlformats.org/officeDocument/2006/relationships/officeDocument" Target="/ppt/presentation.xml" Id="Rb9da3e303b40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39128d2ea5475c"/>
  </p:sldMasterIdLst>
  <p:notesMasterIdLst>
    <p:notesMasterId xmlns:r="http://schemas.openxmlformats.org/officeDocument/2006/relationships" r:id="R2696da25e0a246aa"/>
  </p:notesMasterIdLst>
  <p:sldIdLst>
    <p:sldId xmlns:r="http://schemas.openxmlformats.org/officeDocument/2006/relationships" id="256" r:id="R3591fb21d6f94593"/>
    <p:sldId xmlns:r="http://schemas.openxmlformats.org/officeDocument/2006/relationships" id="257" r:id="Rd7a6d06f9599438d"/>
    <p:sldId xmlns:r="http://schemas.openxmlformats.org/officeDocument/2006/relationships" id="258" r:id="R77252c4f6df84981"/>
    <p:sldId xmlns:r="http://schemas.openxmlformats.org/officeDocument/2006/relationships" id="259" r:id="Rb73d09c16e0e44a7"/>
    <p:sldId xmlns:r="http://schemas.openxmlformats.org/officeDocument/2006/relationships" id="260" r:id="R4860aba276664cd3"/>
    <p:sldId xmlns:r="http://schemas.openxmlformats.org/officeDocument/2006/relationships" id="261" r:id="R998cbcd3bcbf4bb3"/>
    <p:sldId xmlns:r="http://schemas.openxmlformats.org/officeDocument/2006/relationships" id="262" r:id="Rbbb409a013534473"/>
    <p:sldId xmlns:r="http://schemas.openxmlformats.org/officeDocument/2006/relationships" id="263" r:id="Re580d43ed51b4525"/>
    <p:sldId xmlns:r="http://schemas.openxmlformats.org/officeDocument/2006/relationships" id="264" r:id="Rac5010ebe86a4668"/>
    <p:sldId xmlns:r="http://schemas.openxmlformats.org/officeDocument/2006/relationships" id="265" r:id="Rdf2002a1ebd54df7"/>
    <p:sldId xmlns:r="http://schemas.openxmlformats.org/officeDocument/2006/relationships" id="266" r:id="R959e6eb42c414540"/>
    <p:sldId xmlns:r="http://schemas.openxmlformats.org/officeDocument/2006/relationships" id="267" r:id="Rdff0c2b7e9254444"/>
    <p:sldId xmlns:r="http://schemas.openxmlformats.org/officeDocument/2006/relationships" id="268" r:id="R68edcb34520940f7"/>
    <p:sldId xmlns:r="http://schemas.openxmlformats.org/officeDocument/2006/relationships" id="269" r:id="Rc305bfb18bf24042"/>
    <p:sldId xmlns:r="http://schemas.openxmlformats.org/officeDocument/2006/relationships" id="270" r:id="Rd1e9da672fb342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46c2d3449841ff" /><Relationship Type="http://schemas.openxmlformats.org/officeDocument/2006/relationships/slideMaster" Target="/ppt/slideMasters/slideMaster1.xml" Id="R9339128d2ea5475c" /><Relationship Type="http://schemas.openxmlformats.org/officeDocument/2006/relationships/notesMaster" Target="/ppt/notesMasters/notesMaster1.xml" Id="R2696da25e0a246aa" /><Relationship Type="http://schemas.openxmlformats.org/officeDocument/2006/relationships/presProps" Target="/ppt/presProps.xml" Id="R1cbedb292c474009" /><Relationship Type="http://schemas.openxmlformats.org/officeDocument/2006/relationships/tableStyles" Target="/ppt/tableStyles.xml" Id="Ref3bb0506c794e79" /><Relationship Type="http://schemas.openxmlformats.org/officeDocument/2006/relationships/slide" Target="/ppt/slides/slide1.xml" Id="R3591fb21d6f94593" /><Relationship Type="http://schemas.openxmlformats.org/officeDocument/2006/relationships/slide" Target="/ppt/slides/slide2.xml" Id="Rd7a6d06f9599438d" /><Relationship Type="http://schemas.openxmlformats.org/officeDocument/2006/relationships/slide" Target="/ppt/slides/slide3.xml" Id="R77252c4f6df84981" /><Relationship Type="http://schemas.openxmlformats.org/officeDocument/2006/relationships/slide" Target="/ppt/slides/slide4.xml" Id="Rb73d09c16e0e44a7" /><Relationship Type="http://schemas.openxmlformats.org/officeDocument/2006/relationships/slide" Target="/ppt/slides/slide5.xml" Id="R4860aba276664cd3" /><Relationship Type="http://schemas.openxmlformats.org/officeDocument/2006/relationships/slide" Target="/ppt/slides/slide6.xml" Id="R998cbcd3bcbf4bb3" /><Relationship Type="http://schemas.openxmlformats.org/officeDocument/2006/relationships/slide" Target="/ppt/slides/slide7.xml" Id="Rbbb409a013534473" /><Relationship Type="http://schemas.openxmlformats.org/officeDocument/2006/relationships/slide" Target="/ppt/slides/slide8.xml" Id="Re580d43ed51b4525" /><Relationship Type="http://schemas.openxmlformats.org/officeDocument/2006/relationships/slide" Target="/ppt/slides/slide9.xml" Id="Rac5010ebe86a4668" /><Relationship Type="http://schemas.openxmlformats.org/officeDocument/2006/relationships/slide" Target="/ppt/slides/slide10.xml" Id="Rdf2002a1ebd54df7" /><Relationship Type="http://schemas.openxmlformats.org/officeDocument/2006/relationships/slide" Target="/ppt/slides/slide11.xml" Id="R959e6eb42c414540" /><Relationship Type="http://schemas.openxmlformats.org/officeDocument/2006/relationships/slide" Target="/ppt/slides/slide12.xml" Id="Rdff0c2b7e9254444" /><Relationship Type="http://schemas.openxmlformats.org/officeDocument/2006/relationships/slide" Target="/ppt/slides/slide13.xml" Id="R68edcb34520940f7" /><Relationship Type="http://schemas.openxmlformats.org/officeDocument/2006/relationships/slide" Target="/ppt/slides/slide14.xml" Id="Rc305bfb18bf24042" /><Relationship Type="http://schemas.openxmlformats.org/officeDocument/2006/relationships/slide" Target="/ppt/slides/slide15.xml" Id="Rd1e9da672fb3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967c09d77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bab170254942e5" /><Relationship Type="http://schemas.openxmlformats.org/officeDocument/2006/relationships/notesMaster" Target="/ppt/notesMasters/notesMaster1.xml" Id="R576d8073f56b4e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058a5eda3e44ce" /><Relationship Type="http://schemas.openxmlformats.org/officeDocument/2006/relationships/notesMaster" Target="/ppt/notesMasters/notesMaster1.xml" Id="R67a5561277db4d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b25d11f094676" /><Relationship Type="http://schemas.openxmlformats.org/officeDocument/2006/relationships/notesMaster" Target="/ppt/notesMasters/notesMaster1.xml" Id="R3925b48962eb40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130fb2c26f4a85" /><Relationship Type="http://schemas.openxmlformats.org/officeDocument/2006/relationships/notesMaster" Target="/ppt/notesMasters/notesMaster1.xml" Id="Rf6a5bd0ad993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087c113e154fe9" /><Relationship Type="http://schemas.openxmlformats.org/officeDocument/2006/relationships/notesMaster" Target="/ppt/notesMasters/notesMaster1.xml" Id="Rc25d400b9829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469596b72d47dc" /><Relationship Type="http://schemas.openxmlformats.org/officeDocument/2006/relationships/notesMaster" Target="/ppt/notesMasters/notesMaster1.xml" Id="Ra8558360fa4843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aa5ffc94044082" /><Relationship Type="http://schemas.openxmlformats.org/officeDocument/2006/relationships/notesMaster" Target="/ppt/notesMasters/notesMaster1.xml" Id="R5128abc8dc6c49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e4bf48d18a4e0f" /><Relationship Type="http://schemas.openxmlformats.org/officeDocument/2006/relationships/notesMaster" Target="/ppt/notesMasters/notesMaster1.xml" Id="R0ff928cb8a5a47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55fefe36e84140" /><Relationship Type="http://schemas.openxmlformats.org/officeDocument/2006/relationships/notesMaster" Target="/ppt/notesMasters/notesMaster1.xml" Id="Rb24e056b69884b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8106a4e8f74420" /><Relationship Type="http://schemas.openxmlformats.org/officeDocument/2006/relationships/notesMaster" Target="/ppt/notesMasters/notesMaster1.xml" Id="Rc331efe9600445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524ec707ee4f2b" /><Relationship Type="http://schemas.openxmlformats.org/officeDocument/2006/relationships/notesMaster" Target="/ppt/notesMasters/notesMaster1.xml" Id="R805a34787fac44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93f51ce1a04d3d" /><Relationship Type="http://schemas.openxmlformats.org/officeDocument/2006/relationships/notesMaster" Target="/ppt/notesMasters/notesMaster1.xml" Id="R747e129ffdeb42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c29a24bd7f4270" /><Relationship Type="http://schemas.openxmlformats.org/officeDocument/2006/relationships/notesMaster" Target="/ppt/notesMasters/notesMaster1.xml" Id="R8cfd8dc1fea845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a05cf29f0a4334" /><Relationship Type="http://schemas.openxmlformats.org/officeDocument/2006/relationships/notesMaster" Target="/ppt/notesMasters/notesMaster1.xml" Id="R142da488b6c94b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8516764c8d4726" /><Relationship Type="http://schemas.openxmlformats.org/officeDocument/2006/relationships/notesMaster" Target="/ppt/notesMasters/notesMaster1.xml" Id="R37fbd834dd7d4b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Deschid prin ideea centrală: proiectul nu este doar o colecție de funcții AI, ci un fir continuu de lucru pentru cercetare. Imaginea este o captură din aplicația Streamlit rulată local cu date demonstrative izolate.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git log</a:t>
            </a:r>
          </a:p>
          <a:p xmlns:a="http://schemas.openxmlformats.org/drawingml/2006/main">
            <a:r>
              <a:t>- pages/4_Data_Analysis.py</a:t>
            </a:r>
          </a:p>
          <a:p xmlns:a="http://schemas.openxmlformats.org/drawingml/2006/main">
            <a:r>
              <a:t>- .codex_build/internship_presentation_v2/real_screenshots/data-analysis-real.png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Prezint problema înaintea funcțiilor: cercetătorul nu are nevoie de încă un chatbot, ci de continuitate și trasabilitate între etapele muncii sale.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pages/1_Experiments.py</a:t>
            </a:r>
          </a:p>
          <a:p xmlns:a="http://schemas.openxmlformats.org/drawingml/2006/main">
            <a:r>
              <a:t>- pages/2_Library.py</a:t>
            </a:r>
          </a:p>
          <a:p xmlns:a="http://schemas.openxmlformats.org/drawingml/2006/main">
            <a:r>
              <a:t>- pages/3_Paper_Writing.py</a:t>
            </a:r>
          </a:p>
          <a:p xmlns:a="http://schemas.openxmlformats.org/drawingml/2006/main">
            <a:r>
              <a:t>- pages/4_Data_Analysis.py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 evoluția în ordinea commit-urilor. Redesign-ul nu a fost doar vizual: a consolidat mai multe pagini vechi într-un workspace de Experiments și a pregătit cele patru destinații actuale.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--date=short --reverse</a:t>
            </a:r>
          </a:p>
          <a:p xmlns:a="http://schemas.openxmlformats.org/drawingml/2006/main">
            <a:r>
              <a:t>- commits 5546d19, 82ce865, 9f12e75, 548be76, c309492, 3f0a056, f127ce3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Subliniez diferența dintre funcționalitate și maturitate: autentificarea, migrarea datelor, performanța și testele au făcut posibilă folosirea sigură în cloud. Ultimul pas extinde retrieval-ul inițial cu sinteza unui experiment complet, fără a pierde sursele și scorurile de similitudine.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--date=short --reverse</a:t>
            </a:r>
          </a:p>
          <a:p xmlns:a="http://schemas.openxmlformats.org/drawingml/2006/main">
            <a:r>
              <a:t>- commits 9012e88, 732dab9, 5dc6f3a, a15429e, 3acefc2, 5a194d3, ac99f66, 16b3c5b, 72e11e6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Arăt separarea pe straturi. Pagina Streamlit nu conține direct toate detaliile de AI sau storage; acestea sunt encapsulate în servicii, provider și query layer. Abstracția AI permite Gemini în producție și un provider determinist în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pages/*.py</a:t>
            </a:r>
          </a:p>
          <a:p xmlns:a="http://schemas.openxmlformats.org/drawingml/2006/main">
            <a:r>
              <a:t>- services/*.py</a:t>
            </a:r>
          </a:p>
          <a:p xmlns:a="http://schemas.openxmlformats.org/drawingml/2006/main">
            <a:r>
              <a:t>- ai/base.py</a:t>
            </a:r>
          </a:p>
          <a:p xmlns:a="http://schemas.openxmlformats.org/drawingml/2006/main">
            <a:r>
              <a:t>- ai/factory.py</a:t>
            </a:r>
          </a:p>
          <a:p xmlns:a="http://schemas.openxmlformats.org/drawingml/2006/main">
            <a:r>
              <a:t>- ai/gemini_provider.py</a:t>
            </a:r>
          </a:p>
          <a:p xmlns:a="http://schemas.openxmlformats.org/drawingml/2006/main">
            <a:r>
              <a:t>- ai/mock_provider.py</a:t>
            </a:r>
          </a:p>
          <a:p xmlns:a="http://schemas.openxmlformats.org/drawingml/2006/main">
            <a:r>
              <a:t>- db/*.py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Aceasta este baza proiectului. Fiecare experiment are note, audio și o conversație AI proprie; datele nu sunt amestecate între proiecte sau utilizatori. Transcrierea este salvată ca observație editabilă.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pages/1_Experiments.py</a:t>
            </a:r>
          </a:p>
          <a:p xmlns:a="http://schemas.openxmlformats.org/drawingml/2006/main">
            <a:r>
              <a:t>- services/transcription_service.py</a:t>
            </a:r>
          </a:p>
          <a:p xmlns:a="http://schemas.openxmlformats.org/drawingml/2006/main">
            <a:r>
              <a:t>- services/chat_service.py</a:t>
            </a:r>
          </a:p>
          <a:p xmlns:a="http://schemas.openxmlformats.org/drawingml/2006/main">
            <a:r>
              <a:t>- db/queries.py</a:t>
            </a:r>
          </a:p>
          <a:p xmlns:a="http://schemas.openxmlformats.org/drawingml/2006/main">
            <a:r>
              <a:t>- utils/auth.py</a:t>
            </a:r>
          </a:p>
          <a:p xmlns:a="http://schemas.openxmlformats.org/drawingml/2006/main">
            <a:r>
              <a:t>- utils/user_scope.py</a:t>
            </a:r>
          </a:p>
          <a:p xmlns:a="http://schemas.openxmlformats.org/drawingml/2006/main">
            <a:r>
              <a:t>- .codex_build/internship_presentation_v2/real_screenshots/experiments-workspace-real.png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Subliniez caracterul editabil. AI-ul propune, dar cercetătorul poate modifica rezumatele și ideile. Mind map-ul folosește stări de sursă și hash-uri pentru actualizări incrementale.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pages/1_Experiments.py</a:t>
            </a:r>
          </a:p>
          <a:p xmlns:a="http://schemas.openxmlformats.org/drawingml/2006/main">
            <a:r>
              <a:t>- services/summary_service.py</a:t>
            </a:r>
          </a:p>
          <a:p xmlns:a="http://schemas.openxmlformats.org/drawingml/2006/main">
            <a:r>
              <a:t>- services/mindmap_service.py</a:t>
            </a:r>
          </a:p>
          <a:p xmlns:a="http://schemas.openxmlformats.org/drawingml/2006/main">
            <a:r>
              <a:t>- db/queries.py</a:t>
            </a:r>
          </a:p>
          <a:p xmlns:a="http://schemas.openxmlformats.org/drawingml/2006/main">
            <a:r>
              <a:t>- tests/test_insight_editing.py</a:t>
            </a:r>
          </a:p>
          <a:p xmlns:a="http://schemas.openxmlformats.org/drawingml/2006/main">
            <a:r>
              <a:t>- .codex_build/internship_presentation_v2/real_screenshots/experiments-insights-real.png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Library devine sursa comună pentru articole, fișiere și dataseturi. Layer-ul de storage validează calea și tipul, iar query layer-ul leagă item-urile de proiecte și taguri.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pages/2_Library.py</a:t>
            </a:r>
          </a:p>
          <a:p xmlns:a="http://schemas.openxmlformats.org/drawingml/2006/main">
            <a:r>
              <a:t>- services/library_service.py</a:t>
            </a:r>
          </a:p>
          <a:p xmlns:a="http://schemas.openxmlformats.org/drawingml/2006/main">
            <a:r>
              <a:t>- db/library_queries.py</a:t>
            </a:r>
          </a:p>
          <a:p xmlns:a="http://schemas.openxmlformats.org/drawingml/2006/main">
            <a:r>
              <a:t>- tests/test_library.py</a:t>
            </a:r>
          </a:p>
          <a:p xmlns:a="http://schemas.openxmlformats.org/drawingml/2006/main">
            <a:r>
              <a:t>- .codex_build/internship_presentation_v2/real_screenshots/library-real.png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 diferența dintre search și ranking. OpenAlex oferă candidații; aplicația deduplică și calculează un scor determinist înainte de reevaluarea AI. Eșecul AI nu distruge rezultatele de bază.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pages/2_Library.py</a:t>
            </a:r>
          </a:p>
          <a:p xmlns:a="http://schemas.openxmlformats.org/drawingml/2006/main">
            <a:r>
              <a:t>- services/openalex_service.py</a:t>
            </a:r>
          </a:p>
          <a:p xmlns:a="http://schemas.openxmlformats.org/drawingml/2006/main">
            <a:r>
              <a:t>- services/discovery_service.py</a:t>
            </a:r>
          </a:p>
          <a:p xmlns:a="http://schemas.openxmlformats.org/drawingml/2006/main">
            <a:r>
              <a:t>- db/discovery_queries.py</a:t>
            </a:r>
          </a:p>
          <a:p xmlns:a="http://schemas.openxmlformats.org/drawingml/2006/main">
            <a:r>
              <a:t>- tests/test_discovery.py</a:t>
            </a:r>
          </a:p>
          <a:p xmlns:a="http://schemas.openxmlformats.org/drawingml/2006/main">
            <a:r>
              <a:t>- tests/test_discovery_persistence.py</a:t>
            </a:r>
          </a:p>
          <a:p xmlns:a="http://schemas.openxmlformats.org/drawingml/2006/main">
            <a:r>
              <a:t>- .codex_build/internship_presentation_v2/real_screenshots/discovery-results-real.png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Writing este cel mai complex modul. Sugestiile AI nu înlocuiesc direct textul fără control: utilizatorul vede propunerea și schimbările. Versiunile permit restaurarea întregului manuscris sau a unei singure secțiuni.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pages/3_Paper_Writing.py</a:t>
            </a:r>
          </a:p>
          <a:p xmlns:a="http://schemas.openxmlformats.org/drawingml/2006/main">
            <a:r>
              <a:t>- db/writing_queries.py</a:t>
            </a:r>
          </a:p>
          <a:p xmlns:a="http://schemas.openxmlformats.org/drawingml/2006/main">
            <a:r>
              <a:t>- services/writing_service.py</a:t>
            </a:r>
          </a:p>
          <a:p xmlns:a="http://schemas.openxmlformats.org/drawingml/2006/main">
            <a:r>
              <a:t>- services/manuscript_review_service.py</a:t>
            </a:r>
          </a:p>
          <a:p xmlns:a="http://schemas.openxmlformats.org/drawingml/2006/main">
            <a:r>
              <a:t>- services/manuscript_export_service.py</a:t>
            </a:r>
          </a:p>
          <a:p xmlns:a="http://schemas.openxmlformats.org/drawingml/2006/main">
            <a:r>
              <a:t>- tests/test_writing.py</a:t>
            </a:r>
          </a:p>
          <a:p xmlns:a="http://schemas.openxmlformats.org/drawingml/2006/main">
            <a:r>
              <a:t>- .codex_build/internship_presentation_v2/real_screenshots/paper-writing-real.png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Modulul separă validarea datelor, preprocessing-ul și estimatorul. Sunt acoperite clasificarea, regresia, clustering-ul, reducerea dimensionalității și detectarea anomaliilor.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pages/4_Data_Analysis.py</a:t>
            </a:r>
          </a:p>
          <a:p xmlns:a="http://schemas.openxmlformats.org/drawingml/2006/main">
            <a:r>
              <a:t>- services/data_analysis_service.py</a:t>
            </a:r>
          </a:p>
          <a:p xmlns:a="http://schemas.openxmlformats.org/drawingml/2006/main">
            <a:r>
              <a:t>- db/data_analysis_queries.py</a:t>
            </a:r>
          </a:p>
          <a:p xmlns:a="http://schemas.openxmlformats.org/drawingml/2006/main">
            <a:r>
              <a:t>- tests/test_data_analysis.py</a:t>
            </a:r>
          </a:p>
          <a:p xmlns:a="http://schemas.openxmlformats.org/drawingml/2006/main">
            <a:r>
              <a:t>- .codex_build/internship_presentation_v2/real_screenshots/data-analysis-real.png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Arăt lanțul identității. Auth0 autentifică, aplicația activează un UserScope, PostgreSQL folosește claim-urile pentru RLS, iar Storage acceptă numai obiecte sub prefixul utilizatorului. Optimizările reduc costul acestui model de securitate.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utils/auth.py</a:t>
            </a:r>
          </a:p>
          <a:p xmlns:a="http://schemas.openxmlformats.org/drawingml/2006/main">
            <a:r>
              <a:t>- utils/user_scope.py</a:t>
            </a:r>
          </a:p>
          <a:p xmlns:a="http://schemas.openxmlformats.org/drawingml/2006/main">
            <a:r>
              <a:t>- db/database.py</a:t>
            </a:r>
          </a:p>
          <a:p xmlns:a="http://schemas.openxmlformats.org/drawingml/2006/main">
            <a:r>
              <a:t>- services/supabase_storage.py</a:t>
            </a:r>
          </a:p>
          <a:p xmlns:a="http://schemas.openxmlformats.org/drawingml/2006/main">
            <a:r>
              <a:t>- services/resource_limits.py</a:t>
            </a:r>
          </a:p>
          <a:p xmlns:a="http://schemas.openxmlformats.org/drawingml/2006/main">
            <a:r>
              <a:t>- utils/query_cache.py</a:t>
            </a:r>
          </a:p>
          <a:p xmlns:a="http://schemas.openxmlformats.org/drawingml/2006/main">
            <a:r>
              <a:t>- supabase/migrations/*.sql</a:t>
            </a:r>
          </a:p>
          <a:p xmlns:a="http://schemas.openxmlformats.org/drawingml/2006/main">
            <a:r>
              <a:t>- docs/PERFORMANCE_DEPLOYMENT.md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Închei cronologia cu funcția cea mai nouă. Fiecare articol devine un caz semantic standardizat; retrieval-ul selectează sursele relevante, iar un al doilea pas sintetizează o propunere experimentală completă. Răspunsul este validat față de o schemă JSON și păstrează evidența folosită, dar nu execută automat experimentul.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pages/2_Library.py</a:t>
            </a:r>
          </a:p>
          <a:p xmlns:a="http://schemas.openxmlformats.org/drawingml/2006/main">
            <a:r>
              <a:t>- services/research_case_service.py</a:t>
            </a:r>
          </a:p>
          <a:p xmlns:a="http://schemas.openxmlformats.org/drawingml/2006/main">
            <a:r>
              <a:t>- db/research_case_queries.py</a:t>
            </a:r>
          </a:p>
          <a:p xmlns:a="http://schemas.openxmlformats.org/drawingml/2006/main">
            <a:r>
              <a:t>- supabase/migrations/20260819130000_add_research_cases.sql</a:t>
            </a:r>
          </a:p>
          <a:p xmlns:a="http://schemas.openxmlformats.org/drawingml/2006/main">
            <a:r>
              <a:t>- tests/test_research_cases.py</a:t>
            </a:r>
          </a:p>
          <a:p xmlns:a="http://schemas.openxmlformats.org/drawingml/2006/main">
            <a:r>
              <a:t>- commit 72e11e6</a:t>
            </a:r>
          </a:p>
          <a:p xmlns:a="http://schemas.openxmlformats.org/drawingml/2006/main">
            <a:r>
              <a:t>- .codex_build/internship_presentation_v2/real_screenshots/research-cases-real.png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Metricile au fost recalculate înaintea generării prezentării. Am rulat suita completă cu unittest: toate cele 87 de teste au trecut. Categoriile acoperă atât funcțiile principale, cât și securitatea și infrastructura.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rev-list --count HEAD</a:t>
            </a:r>
          </a:p>
          <a:p xmlns:a="http://schemas.openxmlformats.org/drawingml/2006/main">
            <a:r>
              <a:t>- git rev-list --no-merges --count HEAD</a:t>
            </a:r>
          </a:p>
          <a:p xmlns:a="http://schemas.openxmlformats.org/drawingml/2006/main">
            <a:r>
              <a:t>- rg --files / wc metrics over *.py</a:t>
            </a:r>
          </a:p>
          <a:p xmlns:a="http://schemas.openxmlformats.org/drawingml/2006/main">
            <a:r>
              <a:t>- tests/*.py</a:t>
            </a:r>
          </a:p>
          <a:p xmlns:a="http://schemas.openxmlformats.org/drawingml/2006/main">
            <a:r>
              <a:t>- unittest discover run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Revin la problema de la început și arăt că firul informației nu se mai rupe. Închei cu cele trei dimensiuni ale rezultatului: valoare de produs, calitate de inginerie și utilizare responsabilă a AI-ului.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Git history</a:t>
            </a:r>
          </a:p>
          <a:p xmlns:a="http://schemas.openxmlformats.org/drawingml/2006/main">
            <a:r>
              <a:t>- pages/*.py</a:t>
            </a:r>
          </a:p>
          <a:p xmlns:a="http://schemas.openxmlformats.org/drawingml/2006/main">
            <a:r>
              <a:t>- services/*.py</a:t>
            </a:r>
          </a:p>
          <a:p xmlns:a="http://schemas.openxmlformats.org/drawingml/2006/main">
            <a:r>
              <a:t>- tests/*.py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bbb5b23dc41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78becf580d4c89" /><Relationship Type="http://schemas.openxmlformats.org/officeDocument/2006/relationships/slideLayout" Target="/ppt/slideLayouts/slideLayout1.xml" Id="R89283ccb05f744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283ccb05f744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25d6175b140e9" /><Relationship Type="http://schemas.openxmlformats.org/officeDocument/2006/relationships/image" Target="/ppt/media/image.jpeg" Id="R12e308a59c7e4ee8" /><Relationship Type="http://schemas.openxmlformats.org/officeDocument/2006/relationships/notesSlide" Target="/ppt/notesSlides/notesSlide1.xml" Id="Rc8599ad7d70d49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8d6696e8e4dee" /><Relationship Type="http://schemas.openxmlformats.org/officeDocument/2006/relationships/notesSlide" Target="/ppt/notesSlides/notesSlide2.xml" Id="Rd5a29e7b684e4d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1d5d4728f4453" /><Relationship Type="http://schemas.openxmlformats.org/officeDocument/2006/relationships/notesSlide" Target="/ppt/notesSlides/notesSlide3.xml" Id="R0e6ecdeb880243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f1c50dfc840ed" /><Relationship Type="http://schemas.openxmlformats.org/officeDocument/2006/relationships/notesSlide" Target="/ppt/notesSlides/notesSlide4.xml" Id="R6318853ae7db4a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f4526b67b452d" /><Relationship Type="http://schemas.openxmlformats.org/officeDocument/2006/relationships/notesSlide" Target="/ppt/notesSlides/notesSlide5.xml" Id="R71b41a161c9f45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e5e4aae994795" /><Relationship Type="http://schemas.openxmlformats.org/officeDocument/2006/relationships/image" Target="/ppt/media/image2.jpeg" Id="R345ca4670c5c4c56" /><Relationship Type="http://schemas.openxmlformats.org/officeDocument/2006/relationships/notesSlide" Target="/ppt/notesSlides/notesSlide6.xml" Id="Ra5cbd1ebd90f43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023e726de4267" /><Relationship Type="http://schemas.openxmlformats.org/officeDocument/2006/relationships/image" Target="/ppt/media/image3.jpeg" Id="R1f6effb7ab8b4e20" /><Relationship Type="http://schemas.openxmlformats.org/officeDocument/2006/relationships/notesSlide" Target="/ppt/notesSlides/notesSlide7.xml" Id="Re5541eefaf2e4a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39a67ea064b4d" /><Relationship Type="http://schemas.openxmlformats.org/officeDocument/2006/relationships/image" Target="/ppt/media/image4.jpeg" Id="R9d7072d7e4014322" /><Relationship Type="http://schemas.openxmlformats.org/officeDocument/2006/relationships/notesSlide" Target="/ppt/notesSlides/notesSlide8.xml" Id="R8bc47a90c91348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8463085034b16" /><Relationship Type="http://schemas.openxmlformats.org/officeDocument/2006/relationships/image" Target="/ppt/media/image5.jpeg" Id="Rdc69203fe3b34e4a" /><Relationship Type="http://schemas.openxmlformats.org/officeDocument/2006/relationships/notesSlide" Target="/ppt/notesSlides/notesSlide9.xml" Id="R1ecaf3ede19f4b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8ac5929014bde" /><Relationship Type="http://schemas.openxmlformats.org/officeDocument/2006/relationships/image" Target="/ppt/media/image6.jpeg" Id="R40f32f9f5156449a" /><Relationship Type="http://schemas.openxmlformats.org/officeDocument/2006/relationships/notesSlide" Target="/ppt/notesSlides/notesSlide10.xml" Id="Rd5e2ff9a9d5545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edef2164c4022" /><Relationship Type="http://schemas.openxmlformats.org/officeDocument/2006/relationships/image" Target="/ppt/media/image7.jpeg" Id="R9d98131f66ad4230" /><Relationship Type="http://schemas.openxmlformats.org/officeDocument/2006/relationships/notesSlide" Target="/ppt/notesSlides/notesSlide11.xml" Id="R33a65269389743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a645c76634f10" /><Relationship Type="http://schemas.openxmlformats.org/officeDocument/2006/relationships/notesSlide" Target="/ppt/notesSlides/notesSlide12.xml" Id="R64a345b3c97248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b10093b874cc7" /><Relationship Type="http://schemas.openxmlformats.org/officeDocument/2006/relationships/image" Target="/ppt/media/image8.jpeg" Id="R87e65b03e4d94b0f" /><Relationship Type="http://schemas.openxmlformats.org/officeDocument/2006/relationships/notesSlide" Target="/ppt/notesSlides/notesSlide13.xml" Id="R047dc6f155ab4c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5386bca07473a" /><Relationship Type="http://schemas.openxmlformats.org/officeDocument/2006/relationships/notesSlide" Target="/ppt/notesSlides/notesSlide14.xml" Id="R6174b8bb3fb642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04a4547f5479b" /><Relationship Type="http://schemas.openxmlformats.org/officeDocument/2006/relationships/notesSlide" Target="/ppt/notesSlides/notesSlide15.xml" Id="R7e789453c62141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029F0-1F97-4AD5-86D1-57CF2587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PREZENTARE FINALĂ · INTERNSHIP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AA6A24-4E27-4134-BBDB-6FEF3359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Research Journal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0E737-45CF-42E2-B30A-77CC3E55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5191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De la jurnal local asistat de AI</a:t>
            </a:r>
          </a:p>
          <a:p xmlns:a="http://schemas.openxmlformats.org/drawingml/2006/main">
            <a:pPr algn="l"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la un workflow complet de cercetare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2741A-C5EF-4122-A309-388ADF9F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E9567-5EDD-4524-9EC6-02C67BA1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Vlad Ciripescu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4A517-957B-4AE4-9062-F501599B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09 iulie – 21 august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95881-39BC-49AE-AE1C-433AF5AF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2450"/>
            <a:ext cx="58102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225F-C37D-4F0D-A65D-C6F96558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990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D2"/>
                </a:solidFill>
              </a:defRPr>
            </a:pPr>
            <a:r>
              <a:rPr sz="975" b="1">
                <a:solidFill>
                  <a:srgbClr val="1769D2"/>
                </a:solidFill>
              </a:rPr>
              <a:t>WORKSPACE UNIFICAT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DE206-F519-4998-9291-A7D895C8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5054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308a59c7e4ee8"/>
          <a:stretch xmlns:a="http://schemas.openxmlformats.org/drawingml/2006/main"/>
        </p:blipFill>
        <p:spPr>
          <a:xfrm xmlns:a="http://schemas.openxmlformats.org/drawingml/2006/main">
            <a:off x="6210300" y="1696045"/>
            <a:ext cx="5314950" cy="298965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1E987-2C85-4338-874E-2FD5F7A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1495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</a:rPr>
              <a:t>Experiments  ·  Library  ·  Data Analysis  ·  Paper Writing</a:t>
            </a:r>
          </a:p>
        </p:txBody>
      </p:sp>
    </p:spTree>
    <p:extLst>
      <p:ext uri="{BB962C8B-B14F-4D97-AF65-F5344CB8AC3E}">
        <p14:creationId xmlns:p14="http://schemas.microsoft.com/office/powerpoint/2010/main" val="1936225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2">
            <a:extLst xmlns:a="http://schemas.openxmlformats.org/drawingml/2006/main">
              <a:ext uri="{FF2B5EF4-FFF2-40B4-BE49-F238E27FC236}">
                <a16:creationId xmlns:a16="http://schemas.microsoft.com/office/drawing/2014/main" id="{E828019F-0D10-45FB-AF89-A498CCF8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PUNCTUL DE PORNIRE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446644F-97FC-49D4-97E3-67FE0190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Informația fragmentată rupe firul cercetării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84DC0-A41F-4E2F-8A67-3647C66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E1D8C-FC3D-44B4-9186-D5D232C7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Un experiment produce note, fișiere, idei și rezultate; fără context comun, fiecare pas următor reconstruiește manual ce s-a întâmplat.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095C9-F68B-44E5-8834-79A3C4D2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33584-B1E0-43A2-BBFA-9225DC1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Capturare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6BB7C-334C-43CE-B7DE-DA628CF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Note scrise și audio rămân separate de proiect.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10D88-734B-4B65-BEA8-5EA18BB5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95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57634-7AD2-4827-9F9B-4F85541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67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49320-1C7E-441D-9C03-8496D1C8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33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Înțelegere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332D2-1BAD-4D39-89DC-903241E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Rezumatele și conexiunile se refac manual.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74E8F-C99C-4AE6-88E9-6B710FA6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95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16DA1-8C9F-4646-AA36-F503079A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D49AA-AE96-4636-8747-E23394BE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33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Validare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113EE-68B0-409D-8F27-CE18784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Literatura și analiza datelor trăiesc în instrumente diferite.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AAA7D-6284-45B3-9E66-B0D93AAF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95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8475E-A95C-406D-BC67-C2318596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826B6-918D-408D-ACEB-B31F6C57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Comunicare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B0791-54CB-4E78-A18B-04C4A79E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Manuscrisul pierde trasabilitatea către dovezi.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DEBB9-87AE-414D-9E2B-9DB25EB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776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3FE8B-FACC-480A-87F4-3C349FDA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1062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57B7"/>
                </a:solidFill>
              </a:defRPr>
            </a:pPr>
            <a:r>
              <a:rPr sz="1800" b="1">
                <a:solidFill>
                  <a:srgbClr val="0D57B7"/>
                </a:solidFill>
              </a:rPr>
              <a:t>Obiectivul proiectului: un singur workspace care păstrează contextul de la observație până la lucrare.</a:t>
            </a:r>
          </a:p>
        </p:txBody>
      </p:sp>
      <p:sp>
        <p:nvSpPr>
          <p:cNvPr id="22" name="footer-2">
            <a:extLst xmlns:a="http://schemas.openxmlformats.org/drawingml/2006/main">
              <a:ext uri="{FF2B5EF4-FFF2-40B4-BE49-F238E27FC236}">
                <a16:creationId xmlns:a16="http://schemas.microsoft.com/office/drawing/2014/main" id="{CD6F4BAD-5A2F-489C-AD05-D66F09A7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CONTEXT</a:t>
            </a:r>
          </a:p>
        </p:txBody>
      </p:sp>
      <p:sp>
        <p:nvSpPr>
          <p:cNvPr id="2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B4B10E28-C0E5-426B-AC9C-6679DD41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8896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3">
            <a:extLst xmlns:a="http://schemas.openxmlformats.org/drawingml/2006/main">
              <a:ext uri="{FF2B5EF4-FFF2-40B4-BE49-F238E27FC236}">
                <a16:creationId xmlns:a16="http://schemas.microsoft.com/office/drawing/2014/main" id="{269B86DF-B116-4689-9502-2362F884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CRONOLOGIE · IULIE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2A4AA06-6F16-4761-9FC0-3787149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În iulie, nucleul local a devenit un workspace coerent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4E945-B474-4FE2-8B37-D39E7A59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609725" y="3333750"/>
            <a:ext cx="897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3B8D1-9A79-4447-9D5F-2247D437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D2623-5AE2-40CD-B7D4-BF1EF5DD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09 IUL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3C19B-DDA7-4A76-9D2C-02F5E12E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Prototipul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8D6CF-9B96-4764-9F8E-4C04FA48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Proiecte, experimente, note, audio, rezumate și mind map.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B6E7B-D67F-48E5-84D5-6F78731C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C9AE9-9100-4BEC-B15A-AE54B9A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15–16 IUL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5E57A-315C-462F-9126-A22567DD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UI unificat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0F80C-A62F-4220-81D1-E02A7408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Patru destinații principale și un flux Experiments integrat.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463C5-40EA-4973-A9FE-825F9756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6F854-AD78-4EB8-9180-935BE9CA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21 IUL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BA42C-58A4-4FBE-A77A-E9265D75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Library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252D1-9932-4916-9ADA-A517016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Fișiere, foldere, metadate și căutare OpenAlex contextuală.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AB3AE-FD7A-4E5E-9C87-9D9FA2E3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C1311-6962-47C8-BDE3-2C25C6D9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21–23 IUL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70E1A-5116-46D9-84EA-5E68F8EF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Paper Writing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336BF-F5E1-4356-AC05-0461CB9E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Outline, citări, asistent AI, review, versiuni și export.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39FD5-2B1F-4C7E-ADE9-0AC1AC1C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57B7"/>
                </a:solidFill>
              </a:defRPr>
            </a:pPr>
            <a:r>
              <a:rPr sz="1650" b="1">
                <a:solidFill>
                  <a:srgbClr val="0D57B7"/>
                </a:solidFill>
              </a:rPr>
              <a:t>Accentul s-a mutat de la funcții izolate la un produs navigabil cap-coadă.</a:t>
            </a:r>
          </a:p>
        </p:txBody>
      </p:sp>
      <p:sp>
        <p:nvSpPr>
          <p:cNvPr id="22" name="footer-3">
            <a:extLst xmlns:a="http://schemas.openxmlformats.org/drawingml/2006/main">
              <a:ext uri="{FF2B5EF4-FFF2-40B4-BE49-F238E27FC236}">
                <a16:creationId xmlns:a16="http://schemas.microsoft.com/office/drawing/2014/main" id="{E66F58A7-E6F4-4058-8672-1FC123A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CRONOLOGIE</a:t>
            </a:r>
          </a:p>
        </p:txBody>
      </p:sp>
      <p:sp>
        <p:nvSpPr>
          <p:cNvPr id="2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44C523C5-2D98-495B-805B-A876F0BF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5218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4">
            <a:extLst xmlns:a="http://schemas.openxmlformats.org/drawingml/2006/main">
              <a:ext uri="{FF2B5EF4-FFF2-40B4-BE49-F238E27FC236}">
                <a16:creationId xmlns:a16="http://schemas.microsoft.com/office/drawing/2014/main" id="{BE5EFDB1-F4CB-41D6-A087-15B9F395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CRONOLOGIE · AUGUST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A2F6FB5-31A8-44DE-9EB8-263E600F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În august, proiectul a devenit sigur și cloud-ready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78B97-5703-4804-A328-13A12E3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609725" y="3333750"/>
            <a:ext cx="897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3026C-C4C9-4539-973E-A7B5E25A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744D4-3665-44FE-ABFD-78105175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29–30 IUL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3E05B-96FC-44A5-B92A-5DE38218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Identitate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2D34C-6B73-456F-A90E-88031BB2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Login Auth0, izolare per utilizator, limite și hardening.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4D59C-FB79-4502-80F8-2E2EA558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9735B-31EC-46F6-B702-167C1DB3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03 AUG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2663C-9526-4D27-AB0B-442F54B0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Data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FF028-28AE-4362-8313-0C5E81BE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Pipeline-uri scikit-learn, metrici, istoric și exporturi.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14D32-2784-4897-99EA-FBFB33BC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C1253-7348-43BF-8C89-AC6BC9DC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05–06 AUG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2F278-C7C5-4355-A8E1-1E0BA168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Supabase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D0B68-3983-4C71-92C2-1336E55E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PostgreSQL, Storage privat, RLS, cache și pipeline DB.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E5490-69BC-417E-AF82-579C128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8E2BC-C324-40A6-B997-205764DD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19–21 AUG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E00DB-BCA9-45D8-B550-8254F761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Research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F6842-66CC-40F6-9211-5518543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Embedding-uri, top-k și sinteza trasabilă a unui experiment complet.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F136C-E578-4C0A-B392-F86A5F3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57B7"/>
                </a:solidFill>
              </a:defRPr>
            </a:pPr>
            <a:r>
              <a:rPr sz="1650" b="1">
                <a:solidFill>
                  <a:srgbClr val="0D57B7"/>
                </a:solidFill>
              </a:rPr>
              <a:t>Ultimele etape au transformat prototipul într-o aplicație deployabilă și verificabilă.</a:t>
            </a:r>
          </a:p>
        </p:txBody>
      </p:sp>
      <p:sp>
        <p:nvSpPr>
          <p:cNvPr id="22" name="footer-4">
            <a:extLst xmlns:a="http://schemas.openxmlformats.org/drawingml/2006/main">
              <a:ext uri="{FF2B5EF4-FFF2-40B4-BE49-F238E27FC236}">
                <a16:creationId xmlns:a16="http://schemas.microsoft.com/office/drawing/2014/main" id="{7D41FAAA-C8AD-448C-8642-B3B9BF4A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CRONOLOGIE</a:t>
            </a:r>
          </a:p>
        </p:txBody>
      </p:sp>
      <p:sp>
        <p:nvSpPr>
          <p:cNvPr id="2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0548F85A-9AD0-4C46-A5E9-FBF9F01E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4559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5">
            <a:extLst xmlns:a="http://schemas.openxmlformats.org/drawingml/2006/main">
              <a:ext uri="{FF2B5EF4-FFF2-40B4-BE49-F238E27FC236}">
                <a16:creationId xmlns:a16="http://schemas.microsoft.com/office/drawing/2014/main" id="{52CFF567-DFAC-4043-A9A3-44D6B3AC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ARHITECTURA FINALĂ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A142CDC-1891-4FDB-89BE-CEA42D52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Arhitectura separă interfața, logica, AI-ul și datele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6BBF9-3023-4F33-A883-83FBDBB2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2686050" y="3228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5429250" y="3228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8172450" y="3228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86CA6-185F-4EFA-97BE-04F6986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2400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4AEF6-9B9F-4771-9868-3819744D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4F0B8-3CCE-42B3-B661-E726E992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Streamlit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6B129-D328-40D5-AB7B-1D7F1ED6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4 pagini principale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componente reutilizabile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fragmente cu rerulare locală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6A514-E631-4E17-B52E-806FA23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400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260D3-CEBA-4F7D-87C0-0E248D1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4C80D-4F32-4E08-B80F-EAC81A5A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241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Servicii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24501-EF04-4191-9C39-0B74725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042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workflow-uri de domeniu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validare și export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limite de resurse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9CE91-85A4-4F30-8D96-A9CA785A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2400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0852B-3DAB-4DBE-92DD-8B1436B5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1705B-A816-4C14-AA7D-489B623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241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AI providers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A7423-C069-4BF7-9DDC-775745A0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042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Gemini în producție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MockProvider în teste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scheme JSON + grounding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E2745-F3B8-450C-9C31-870C9843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400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FA9F5-D8A0-491F-A411-E415A4F1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46591-603C-4380-B818-948EBCD8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Date &amp; fișiere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95D22-C695-4935-BA5F-B02DADCD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042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PostgreSQL + RLS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Supabase Storage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SQLite fallback local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92CC7-2ECF-4F53-8C74-EED57C51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039B7-3EFE-49C5-89E1-A2076373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Principiul de implementare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A6CF1-0A76-49FD-BC4A-087FEFE9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577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57B7"/>
                </a:solidFill>
              </a:defRPr>
            </a:pPr>
            <a:r>
              <a:rPr sz="1500" b="0">
                <a:solidFill>
                  <a:srgbClr val="0D57B7"/>
                </a:solidFill>
              </a:rPr>
              <a:t>Interfața orchestrează; serviciile decid; query layer-ul persistă; provider-ul AI rămâne înlocuibil.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D6C26-51E2-4447-A367-9FCC5532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43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Același cod rulează cloud-first și păstrează fallback-uri locale pentru testare.</a:t>
            </a:r>
          </a:p>
        </p:txBody>
      </p:sp>
      <p:sp>
        <p:nvSpPr>
          <p:cNvPr id="27" name="footer-5">
            <a:extLst xmlns:a="http://schemas.openxmlformats.org/drawingml/2006/main">
              <a:ext uri="{FF2B5EF4-FFF2-40B4-BE49-F238E27FC236}">
                <a16:creationId xmlns:a16="http://schemas.microsoft.com/office/drawing/2014/main" id="{021CBB8F-CF29-4A31-959C-3AA843E2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ARHITECTURĂ</a:t>
            </a:r>
          </a:p>
        </p:txBody>
      </p:sp>
      <p:sp>
        <p:nvSpPr>
          <p:cNvPr id="28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68E6536D-4DA4-458E-AC02-E5D33300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1450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E6CACF84-3587-4540-8388-C5429FB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1 · 09–16 IULIE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AA4E532-D8B3-4A02-9B66-BE9CFCA9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Experiments păstrează contextul în jurul fiecărui proiect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10B9-4BEA-4216-BB81-8A88D211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60890-999D-4AA9-B099-592BDAFB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EEFCE-6D1B-4129-8CB7-CD54DA06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CAPTURARE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4625C-3A07-4A6F-AE9C-97C16737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FC4EA-C55D-4438-8C9F-B34D8FB1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Proiecte și experimente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76520-C367-42F2-A302-1A38294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Ierarhie clară, obiective, metadate și navigare persistentă.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34B73-1A93-414E-8306-107CFA96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B812D-FB28-44B5-B3CD-3C46D6A5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Note scrise și audio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C15BA-21A3-46F8-AFDF-D3CE8D96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Observații editabile; înregistrările WAV sunt validate, salvate și transcrise cu Faster Whisper.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CEED3-7149-40DB-A308-3416142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38E2A-8DB3-4935-AAD7-910A719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Chat AI contextual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3899B-8CBA-4020-B44B-7D209E7B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Răspunsurile folosesc doar notele experimentului sau contextul proiectului selectat.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35131-8A2B-415D-92B5-FBFE274D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Implementare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2C62C-AD5D-43B0-BAC9-A547901B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863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pages/1_Experiments.py → db/queries.py → chat/transcription services; callbacks reactivează UserScope înainte de accesul privat.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5CA7D-6B45-4A75-BCF3-5F536A8F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00200"/>
            <a:ext cx="57626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ca4670c5c4c56"/>
          <a:stretch xmlns:a="http://schemas.openxmlformats.org/drawingml/2006/main"/>
        </p:blipFill>
        <p:spPr>
          <a:xfrm xmlns:a="http://schemas.openxmlformats.org/drawingml/2006/main">
            <a:off x="5953125" y="2199977"/>
            <a:ext cx="5572125" cy="3134320"/>
          </a:xfrm>
          <a:prstGeom xmlns:a="http://schemas.openxmlformats.org/drawingml/2006/main" prst="rect">
            <a:avLst/>
          </a:prstGeom>
        </p:spPr>
      </p:pic>
      <p:sp>
        <p:nvSpPr>
          <p:cNvPr id="19" name="footer-6">
            <a:extLst xmlns:a="http://schemas.openxmlformats.org/drawingml/2006/main">
              <a:ext uri="{FF2B5EF4-FFF2-40B4-BE49-F238E27FC236}">
                <a16:creationId xmlns:a16="http://schemas.microsoft.com/office/drawing/2014/main" id="{C7DEA4CD-8909-41EA-BEA9-B0E5CD3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1</a:t>
            </a:r>
          </a:p>
        </p:txBody>
      </p:sp>
      <p:sp>
        <p:nvSpPr>
          <p:cNvPr id="2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E0C4347-62B3-4BF6-A987-C98D95FD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4177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7">
            <a:extLst xmlns:a="http://schemas.openxmlformats.org/drawingml/2006/main">
              <a:ext uri="{FF2B5EF4-FFF2-40B4-BE49-F238E27FC236}">
                <a16:creationId xmlns:a16="http://schemas.microsoft.com/office/drawing/2014/main" id="{3EB06AF1-38B4-4A6B-8C3F-1F2B4E2E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2 · 16 IULIE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CA77819-5CB8-41A6-B77D-D87D475F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Insights transformă observațiile în cunoaștere editabilă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AE4F4-AA63-480A-9C12-5189F89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28947-CD63-49A0-9D9F-727B4EA5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95312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effb7ab8b4e20"/>
          <a:stretch xmlns:a="http://schemas.openxmlformats.org/drawingml/2006/main"/>
        </p:blipFill>
        <p:spPr>
          <a:xfrm xmlns:a="http://schemas.openxmlformats.org/drawingml/2006/main">
            <a:off x="552450" y="2160687"/>
            <a:ext cx="5762625" cy="324147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47A34-885A-4A6E-8517-BC680D2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9ADC2-5DE2-4F5C-B00D-1BB8F116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SINTEZĂ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A20ED-F554-49DF-BC15-DE346E51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35694-2A88-45B3-9B1B-E8DDB2BE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526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Rezumate pe două niveluri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A8B88-3F5B-420D-835C-2F0AD223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Rezumat per experiment sau per proiect, cu structuri standard ori prompt personalizat.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10C3A-1E96-447B-83B7-FFDCD1F5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241DA-DA8B-4C1A-8B5A-E0EB9FBB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242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Idei-cheie editabile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18581-3122-4D6C-8D60-78B797F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19475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AI extrage titlu, descriere, dovezi și importanță; utilizatorul păstrează controlul final.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E2742-387B-48B5-8ED5-05C2E1CF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CA251-D3E8-4902-83A8-B04F3753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Mind map incremental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F09B6-1666-48F0-8F3C-B8B3815C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05325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Sursele noi sunt detectate prin semnături și fuzionate fără a regenera inutil întregul graf.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1DE91-910C-4F17-BC76-C4169860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7B7"/>
                </a:solidFill>
              </a:defRPr>
            </a:pPr>
            <a:r>
              <a:rPr sz="1125" b="1">
                <a:solidFill>
                  <a:srgbClr val="0D57B7"/>
                </a:solidFill>
              </a:rPr>
              <a:t>Implementare: summary_service + mindmap_service; hash-uri pe surse, upsert de noduri și muchii, apoi persistare în tabele dedicate.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F81397D3-D4D1-4A66-A0B6-DAF47C8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2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10C3A915-4EDC-4F57-86EF-B2794291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64699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8">
            <a:extLst xmlns:a="http://schemas.openxmlformats.org/drawingml/2006/main">
              <a:ext uri="{FF2B5EF4-FFF2-40B4-BE49-F238E27FC236}">
                <a16:creationId xmlns:a16="http://schemas.microsoft.com/office/drawing/2014/main" id="{479CE86C-3545-496D-8366-C558E282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3 · 21 IULIE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B7B4F82-1178-4E72-A892-5499907D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Library centralizează literatura și artefactele cercetării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B7F91-58DD-4282-BB90-BEC3683A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58606-C690-4514-A011-D759B677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F6057-413C-4C01-878A-B5B97379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ORGANIZARE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44143-0A31-40C6-AED7-C48730F0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76A28-355A-4FE1-8008-DDE0E720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Colecții și metadate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8821E-7182-43F0-85F5-8C5A28B8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Foldere ierarhice, tipuri de item, status de lectură, autori, DOI, taguri și proiecte asociate.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0BD48-F8C9-455E-92F7-115C73F4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5B540-5BF6-4E67-8B9B-4C7CF17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Upload controlat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62B7A-AC05-4151-A641-DA0EBBE9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PDF, documente, dataseturi și audio; extensii, dimensiuni, batch-uri și căi sunt validate înainte de stocare.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FBA37-FDC0-49E8-A4E3-65D41443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67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3CDAA-1BEE-439B-8609-D72018C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Operații 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7C4D5-BB9F-4DAA-8592-7F1762F8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Filtrare, sortare, paginare, mutare în lot, descărcare și prevenirea duplicatelor prin identificatori normalizați.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5FB92-2F5A-4DD8-9533-20A37747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57B7"/>
                </a:solidFill>
              </a:defRPr>
            </a:pPr>
            <a:r>
              <a:rPr sz="1050" b="1">
                <a:solidFill>
                  <a:srgbClr val="0D57B7"/>
                </a:solidFill>
              </a:rPr>
              <a:t>Implementare: library_service validează inputul și calea; library_queries normalizează DOI/OpenAlex ID și persistă relațiile folder–tag–proiect.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64E31-F693-4F0F-93E5-9FB39251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61150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072d7e4014322"/>
          <a:stretch xmlns:a="http://schemas.openxmlformats.org/drawingml/2006/main"/>
        </p:blipFill>
        <p:spPr>
          <a:xfrm xmlns:a="http://schemas.openxmlformats.org/drawingml/2006/main">
            <a:off x="5600700" y="2115145"/>
            <a:ext cx="5924550" cy="3332559"/>
          </a:xfrm>
          <a:prstGeom xmlns:a="http://schemas.openxmlformats.org/drawingml/2006/main" prst="rect">
            <a:avLst/>
          </a:prstGeom>
        </p:spPr>
      </p:pic>
      <p:sp>
        <p:nvSpPr>
          <p:cNvPr id="18" name="footer-8">
            <a:extLst xmlns:a="http://schemas.openxmlformats.org/drawingml/2006/main">
              <a:ext uri="{FF2B5EF4-FFF2-40B4-BE49-F238E27FC236}">
                <a16:creationId xmlns:a16="http://schemas.microsoft.com/office/drawing/2014/main" id="{0385E949-CBD8-4268-8F48-7799BEBA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3</a:t>
            </a:r>
          </a:p>
        </p:txBody>
      </p:sp>
      <p:sp>
        <p:nvSpPr>
          <p:cNvPr id="19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D1B43939-4A47-4CCD-8871-59448B4C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8883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9">
            <a:extLst xmlns:a="http://schemas.openxmlformats.org/drawingml/2006/main">
              <a:ext uri="{FF2B5EF4-FFF2-40B4-BE49-F238E27FC236}">
                <a16:creationId xmlns:a16="http://schemas.microsoft.com/office/drawing/2014/main" id="{BF0EB51E-FED7-4D16-8EC3-A8B84F58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3 · 21 IULIE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A006DE6-4C07-4619-A9BF-5B2AB291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Discovery combină căutarea și ranking-ul explicabil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10348-5B88-4F17-9728-6CD608DE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B53E2-D18D-4617-B960-1B6C3A0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2865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9203fe3b34e4a"/>
          <a:stretch xmlns:a="http://schemas.openxmlformats.org/drawingml/2006/main"/>
        </p:blipFill>
        <p:spPr>
          <a:xfrm xmlns:a="http://schemas.openxmlformats.org/drawingml/2006/main">
            <a:off x="552450" y="2066925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30F20-739B-46C7-9AE7-6FD4D36F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575B5-C532-47E1-9709-09930D6C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DESCOPERIRE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40D90-3FE2-489A-933A-C4907D0A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AA0DC-1BB2-4B8E-BB24-D1B4FF45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Profil de căutare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E0DAF-400D-4ECF-8EBE-BD991115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Tema proiectului, cuvintele-cheie și ideile salvate generează interogări multiple, dar editabile.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5BFDA-4553-4DCF-B3BD-6A9F8BE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86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EC901-9353-42E0-813E-DFCB0D52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194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Ranking hibrid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CCB35-E34B-4225-BAF2-4B08E76F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1472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TF–IDF, acoperirea interogărilor, ideile-cheie, citările, recența și open access formează scorul de bază; AI îl îmbogățește.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58F85-D229-45B3-ACF9-16C21387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6B959-5262-4A6C-AEBD-1DCDA1B9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529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Fallback și trasabilitate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FB996-8062-47FE-8C38-DE3822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4822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Dacă un batch AI eșuează, ranking-ul calculat rămâne valid; seturile și contextul căutării sunt persistate.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2C479-94ED-48DD-A813-930FDF29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197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57B7"/>
                </a:solidFill>
              </a:defRPr>
            </a:pPr>
            <a:r>
              <a:rPr sz="1050" b="1">
                <a:solidFill>
                  <a:srgbClr val="0D57B7"/>
                </a:solidFill>
              </a:rPr>
              <a:t>Implementare: OpenAlex → deduplicare → vectori TF–IDF → scor pe 6 componente → reranking AI JSON în batch-uri.</a:t>
            </a:r>
          </a:p>
        </p:txBody>
      </p:sp>
      <p:sp>
        <p:nvSpPr>
          <p:cNvPr id="18" name="footer-9">
            <a:extLst xmlns:a="http://schemas.openxmlformats.org/drawingml/2006/main">
              <a:ext uri="{FF2B5EF4-FFF2-40B4-BE49-F238E27FC236}">
                <a16:creationId xmlns:a16="http://schemas.microsoft.com/office/drawing/2014/main" id="{33C77CFE-BF99-4DF6-9F6C-8C54800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3</a:t>
            </a:r>
          </a:p>
        </p:txBody>
      </p:sp>
      <p:sp>
        <p:nvSpPr>
          <p:cNvPr id="19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1489AA48-AD6F-43CB-B119-E30F7ED4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1245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0">
            <a:extLst xmlns:a="http://schemas.openxmlformats.org/drawingml/2006/main">
              <a:ext uri="{FF2B5EF4-FFF2-40B4-BE49-F238E27FC236}">
                <a16:creationId xmlns:a16="http://schemas.microsoft.com/office/drawing/2014/main" id="{DA1C4957-C7B0-4E9F-AE72-8BE2487D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4 · 21–23 IULIE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0C2F0B6-344C-4759-998F-4E851B20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Paper Writing leagă textul de surse și versiuni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2903F-D1E5-44AD-9693-995533A3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AE4B4-3FE6-4264-8AB5-A7A93DD3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D4303-D918-4F59-B716-D9161AD7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REDACTARE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E44A8-8677-4F90-A578-D08FA7B8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21B24-B56A-48F3-B674-CB503F71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Manuscris structurat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CC5E7-3B2A-497D-8B28-F96B21A7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Outline științific, editor Markdown cu toolbar, autosave și obiecte numerotate: figuri, tabele și ecuații.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DBE70-1191-401E-8217-E714E21D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A6CAB-8320-438A-ABC6-778C9DC1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Dovezi și asistent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23870-609B-4B1E-9D07-2134281D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Sursele Library și evidențele proiectului intră explicit în contextul fiecărei sugestii.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C1776-BD89-43DB-8637-834836C9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38FAE-36C9-4776-8537-B010BEDF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Control editorial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E9CBC-A69C-4E20-AD73-E3CC2869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Citări APA/Vancouver, verificări de readiness, snapshot-uri, diff, restaurare granulară și comentarii.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DAE44-B83D-48E9-8F76-4E7FE33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57B7"/>
                </a:solidFill>
              </a:defRPr>
            </a:pPr>
            <a:r>
              <a:rPr sz="1050" b="1">
                <a:solidFill>
                  <a:srgbClr val="0D57B7"/>
                </a:solidFill>
              </a:rPr>
              <a:t>Implementare: autosave prin callback-uri, context AI selectat explicit, snapshot JSON + diff și exportere Markdown/DOCX/PDF.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76DCB-FA73-4F7F-A8A8-3136BF13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00200"/>
            <a:ext cx="6096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32f9f5156449a"/>
          <a:stretch xmlns:a="http://schemas.openxmlformats.org/drawingml/2006/main"/>
        </p:blipFill>
        <p:spPr>
          <a:xfrm xmlns:a="http://schemas.openxmlformats.org/drawingml/2006/main">
            <a:off x="5619750" y="2120503"/>
            <a:ext cx="5905500" cy="3321844"/>
          </a:xfrm>
          <a:prstGeom xmlns:a="http://schemas.openxmlformats.org/drawingml/2006/main" prst="rect">
            <a:avLst/>
          </a:prstGeom>
        </p:spPr>
      </p:pic>
      <p:sp>
        <p:nvSpPr>
          <p:cNvPr id="18" name="footer-10">
            <a:extLst xmlns:a="http://schemas.openxmlformats.org/drawingml/2006/main">
              <a:ext uri="{FF2B5EF4-FFF2-40B4-BE49-F238E27FC236}">
                <a16:creationId xmlns:a16="http://schemas.microsoft.com/office/drawing/2014/main" id="{FC6EA6EB-CCB0-42A5-B0F6-BAABD8C5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4</a:t>
            </a:r>
          </a:p>
        </p:txBody>
      </p:sp>
      <p:sp>
        <p:nvSpPr>
          <p:cNvPr id="19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0D8FCF95-3B23-4825-82A1-54933D52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47061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1">
            <a:extLst xmlns:a="http://schemas.openxmlformats.org/drawingml/2006/main">
              <a:ext uri="{FF2B5EF4-FFF2-40B4-BE49-F238E27FC236}">
                <a16:creationId xmlns:a16="http://schemas.microsoft.com/office/drawing/2014/main" id="{401EE75A-7309-4766-997A-A9807CB3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5 · 03 AUGUST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5C2A7AD-84C3-4591-8F99-9A64AC1C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Data Analysis face fluxurile ML reproductibile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D6068-FBCD-4407-BAB7-C8040053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EDFEA-933F-42DD-82FE-4B4DB010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3817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8131f66ad4230"/>
          <a:stretch xmlns:a="http://schemas.openxmlformats.org/drawingml/2006/main"/>
        </p:blipFill>
        <p:spPr>
          <a:xfrm xmlns:a="http://schemas.openxmlformats.org/drawingml/2006/main">
            <a:off x="552450" y="204013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05025-D1AE-41DC-A4DC-0BA37740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DE036-72FF-49E1-A4C8-989F157C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ANALIZĂ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A6059-1FC3-497C-A050-371C950A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CFC0C-E496-4FBF-A8D2-C70445C3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Ingestie și profilare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43C94-55FE-46D1-A82B-707D3CA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47925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CSV, TSV, XLSX și JSON; verificări de dimensiune, coloane, valori lipsă, duplicate și tipuri.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03BD3-9A21-4552-A449-92EDF745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3060A-BB32-4F7C-8166-9E61957D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Pipeline scikit-learn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ACB63-3E1D-4EAD-B6E0-7DD39949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52825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5 obiective, 10 algoritmi, imputare, scalare, encoding și seed determinist 42.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E2A60-D068-4190-A039-DEBDC27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2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F924C-9127-43A3-BF34-B2C10FEA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624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Rezultate persistente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00A24-96F5-4AF3-AC17-3BB95E1E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57725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Metrici și grafice specifice, predicții, istoric de rulări și artefacte private: CSV + raport Markdown.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FE77D-78BF-419D-AD6F-D6FA4B9F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864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57B7"/>
                </a:solidFill>
              </a:defRPr>
            </a:pPr>
            <a:r>
              <a:rPr sz="1050" b="1">
                <a:solidFill>
                  <a:srgbClr val="0D57B7"/>
                </a:solidFill>
              </a:rPr>
              <a:t>Implementare: validare tabulară → ColumnTransformer → estimator scikit-learn → metrici/diagrame → run + artefacte persistate.</a:t>
            </a:r>
          </a:p>
        </p:txBody>
      </p:sp>
      <p:sp>
        <p:nvSpPr>
          <p:cNvPr id="18" name="footer-11">
            <a:extLst xmlns:a="http://schemas.openxmlformats.org/drawingml/2006/main">
              <a:ext uri="{FF2B5EF4-FFF2-40B4-BE49-F238E27FC236}">
                <a16:creationId xmlns:a16="http://schemas.microsoft.com/office/drawing/2014/main" id="{8C367DBD-326F-4B7F-9655-04F3393A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5</a:t>
            </a:r>
          </a:p>
        </p:txBody>
      </p:sp>
      <p:sp>
        <p:nvSpPr>
          <p:cNvPr id="19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1B8C6C0D-A93E-4F22-8131-16EF9E9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3355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12">
            <a:extLst xmlns:a="http://schemas.openxmlformats.org/drawingml/2006/main">
              <a:ext uri="{FF2B5EF4-FFF2-40B4-BE49-F238E27FC236}">
                <a16:creationId xmlns:a16="http://schemas.microsoft.com/office/drawing/2014/main" id="{BAC49DB7-08AD-48A7-B7CA-8D533018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6 · 29 IULIE–06 AUGUST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2CC6201A-C0A2-488F-BBAE-FB972BF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Cloud-ul a fost construit în jurul izolării datelor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8933A-BA2B-4058-8B66-65F828CE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105150" y="29908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7067550" y="29908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14B1F-11FA-44C2-9A8A-E8D77653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47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54E14-C449-47BC-A354-A6F40692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Auth0 / OIDC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7354A-2220-4DD0-8350-810D0E5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222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iss + sub verificate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rol authenticated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sesiune Streamlit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FBE2A-179A-49C7-BD2F-38B10F81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6D51B-A814-4FAC-8F04-BEDDDA87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982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Aplicația 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7A6AA-D57E-4612-AF48-AF3C02E3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81325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scope privat per utilizator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servicii + query layer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ID token server-side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0B668-B9A3-403A-98CB-42340E7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752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8D2B1-3AD7-4778-8449-36B9DBF3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98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Supabase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84F85-33FE-4845-9270-2BFAFE1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PostgreSQL + RLS forțat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Storage privat în users/&lt;uuid&gt;/…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ștergere completă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0E812-34AD-4454-9EDE-6DE0B96D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10237-0098-4283-9708-1D1151A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57B7"/>
                </a:solidFill>
              </a:defRPr>
            </a:pPr>
            <a:r>
              <a:rPr sz="1500" b="1">
                <a:solidFill>
                  <a:srgbClr val="0D57B7"/>
                </a:solidFill>
              </a:rPr>
              <a:t>RLS + prefix privat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85FC4-CE84-47C0-858F-F065821D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Aceeași identitate controlează rândurile și obiectele Storage.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E2142-11E5-408F-87CD-19C73DD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57B7"/>
                </a:solidFill>
              </a:defRPr>
            </a:pPr>
            <a:r>
              <a:rPr sz="1500" b="1">
                <a:solidFill>
                  <a:srgbClr val="0D57B7"/>
                </a:solidFill>
              </a:rPr>
              <a:t>Rate &amp; concurrency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F9DFA-77C8-43C6-8422-B4F6B892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Cote pentru Gemini, OpenAlex, transcriere și spațiu.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E1437-035F-493D-8075-7DC3BE9C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57B7"/>
                </a:solidFill>
              </a:defRPr>
            </a:pPr>
            <a:r>
              <a:rPr sz="1500" b="1">
                <a:solidFill>
                  <a:srgbClr val="0D57B7"/>
                </a:solidFill>
              </a:rPr>
              <a:t>Cache + pipeline 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A228B-F47B-48AC-A76A-DB7E1DE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Invalidare selectivă, conexiuni reutilizate și mai puține round-trip-uri.</a:t>
            </a:r>
          </a:p>
        </p:txBody>
      </p:sp>
      <p:sp>
        <p:nvSpPr>
          <p:cNvPr id="22" name="footer-12">
            <a:extLst xmlns:a="http://schemas.openxmlformats.org/drawingml/2006/main">
              <a:ext uri="{FF2B5EF4-FFF2-40B4-BE49-F238E27FC236}">
                <a16:creationId xmlns:a16="http://schemas.microsoft.com/office/drawing/2014/main" id="{3F58B506-8703-44B0-9855-BF9CB32A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6</a:t>
            </a:r>
          </a:p>
        </p:txBody>
      </p:sp>
      <p:sp>
        <p:nvSpPr>
          <p:cNvPr id="23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894D00BB-DF41-4025-8395-945B8123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06976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3">
            <a:extLst xmlns:a="http://schemas.openxmlformats.org/drawingml/2006/main">
              <a:ext uri="{FF2B5EF4-FFF2-40B4-BE49-F238E27FC236}">
                <a16:creationId xmlns:a16="http://schemas.microsoft.com/office/drawing/2014/main" id="{10BA9CC8-BF77-4FD2-B778-B212012D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7 · 19–21 AUGUST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8BF30073-2AE0-4B27-9F1F-C9A0072E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Research Cases propune următorul experiment trasabil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71D1A-1B98-48DB-A88F-FF9A1513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7FE3A-A88D-46CF-8D04-DAF6EBF6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286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65b03e4d94b0f"/>
          <a:stretch xmlns:a="http://schemas.openxmlformats.org/drawingml/2006/main"/>
        </p:blipFill>
        <p:spPr>
          <a:xfrm xmlns:a="http://schemas.openxmlformats.org/drawingml/2006/main">
            <a:off x="552450" y="169545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53F55-AE01-48EF-B149-F93EC0D7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B0308-5ABA-4DF8-94A9-D4F3B2FF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PROPUNERE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6B8E9-180C-494D-AADE-93FC2913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B492E-FA1D-4481-B12B-C27FA02C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Caz semantic standardizat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28369-D72E-45D0-B97C-4211B2D3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Articolul sau abstractul devine JSON validat: context, soluție, strategii, rezultate și fragmente-sursă.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CB7BF-C9FC-4F9F-B8C8-E2134942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91893-D5AF-4530-AB8D-30AC7BFE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Retrieval explicabil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937BD-783B-430F-974A-0A0BF20F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2902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Embedding persistent, cosine similarity și top-k; fiecare exemplu păstrează rangul, scorul și dovada.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1B6A0-4A8A-4E6B-94F6-544E3923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24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C6E45-2444-43B0-B387-31C12AB9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Experiment complet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5D789-206B-4BC5-B6D9-FD5EA48C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5297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Provider-ul AI sintetizează obiectiv, ipoteză, variabile, controale, replici, procedură, metrici și riscuri.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B1ECF-7E5D-4775-84D9-41172236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087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57B7"/>
                </a:solidFill>
              </a:defRPr>
            </a:pPr>
            <a:r>
              <a:rPr sz="1125" b="1">
                <a:solidFill>
                  <a:srgbClr val="0D57B7"/>
                </a:solidFill>
              </a:rPr>
              <a:t>Implementare: schema JSON → hash de sursă → embedding → retrieval → taxonomie → răspuns final validat; cercetătorul decide aplicarea.</a:t>
            </a:r>
          </a:p>
        </p:txBody>
      </p:sp>
      <p:sp>
        <p:nvSpPr>
          <p:cNvPr id="18" name="footer-13">
            <a:extLst xmlns:a="http://schemas.openxmlformats.org/drawingml/2006/main">
              <a:ext uri="{FF2B5EF4-FFF2-40B4-BE49-F238E27FC236}">
                <a16:creationId xmlns:a16="http://schemas.microsoft.com/office/drawing/2014/main" id="{7024BA24-93A6-4DB5-8F60-13393915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7</a:t>
            </a:r>
          </a:p>
        </p:txBody>
      </p:sp>
      <p:sp>
        <p:nvSpPr>
          <p:cNvPr id="19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0C1F7DE7-3B06-4282-9C9E-C4E49FB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726455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14">
            <a:extLst xmlns:a="http://schemas.openxmlformats.org/drawingml/2006/main">
              <a:ext uri="{FF2B5EF4-FFF2-40B4-BE49-F238E27FC236}">
                <a16:creationId xmlns:a16="http://schemas.microsoft.com/office/drawing/2014/main" id="{7C3710C8-FEC3-4A47-A038-474F8A3F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DOVEZI DE INGINERIE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43C97957-374E-4F69-98C5-CB8BCACF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Calitatea este verificabilă în repository și teste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D5231-B1CD-4329-977D-49DCBBCF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0FC2A-5E6D-41CF-A2B9-D755EADA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1B5ED-51F5-4B14-8461-BE286D14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commit-uri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6CF4A-39DA-4897-BBAE-FC9823C5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32 fără merge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28350-38BC-4591-A6AC-74D01C94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787B7-4F69-4A16-B9C5-61D1D22C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A3DE3-B09E-4E2D-868F-804849E5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fișiere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7AF35-6DA9-4AD9-90DE-FB343E1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aplicație + teste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F3318-C0C1-41B0-9A18-710EE679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0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CCFF9-DA74-4C81-9190-9629F17B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31.541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39F46-B62A-4255-8E7B-4EFC3ED5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linii Python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24CB-4614-4DE5-8842-2625CFAF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cod funcțional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C2D9C-6B61-442E-A7B5-CD11831E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3D90C-878E-4612-878D-CB0A7882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57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9D2"/>
                </a:solidFill>
              </a:defRPr>
            </a:pPr>
            <a:r>
              <a:rPr sz="3450" b="1">
                <a:solidFill>
                  <a:srgbClr val="1769D2"/>
                </a:solidFill>
              </a:rPr>
              <a:t>87 / 87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5FCFD-53AD-4AEB-8C80-47AAAF95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teste trecute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277FA-B3F2-4145-AFC7-111BEBD8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rulare completă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074F5-62E9-46B0-A08C-CA246392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77AEB-47D8-40F6-AC62-5DC71DBF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57B7"/>
                </a:solidFill>
              </a:defRPr>
            </a:pPr>
            <a:r>
              <a:rPr sz="1575" b="1">
                <a:solidFill>
                  <a:srgbClr val="0D57B7"/>
                </a:solidFill>
              </a:rPr>
              <a:t>Funcțional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57075-2E22-40B6-AF59-DBEFFF50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Data Analysis, Discovery, Library, Writing și Research Cases.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FA1F0-83F4-41F0-BF95-90F0B4E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57B7"/>
                </a:solidFill>
              </a:defRPr>
            </a:pPr>
            <a:r>
              <a:rPr sz="1575" b="1">
                <a:solidFill>
                  <a:srgbClr val="0D57B7"/>
                </a:solidFill>
              </a:rPr>
              <a:t>Securitate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A331D-EDD4-423C-A68C-1FF85B20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57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Izolare utilizatori, input neîncrezător, limite, fișiere și Storage.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B90A9-D8BA-43CC-997F-1FFF555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57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57B7"/>
                </a:solidFill>
              </a:defRPr>
            </a:pPr>
            <a:r>
              <a:rPr sz="1575" b="1">
                <a:solidFill>
                  <a:srgbClr val="0D57B7"/>
                </a:solidFill>
              </a:rPr>
              <a:t>Infrastructură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8D7CF-1375-4526-A9DF-BF78082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PostgreSQL/RLS, cache, pipeline, migrare și fallback local.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F2B5F-3D47-4A19-B172-8572A003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977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F18DB9-ECCA-4402-886B-3DE4C8E2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7A48"/>
                </a:solidFill>
              </a:defRPr>
            </a:pPr>
            <a:r>
              <a:rPr sz="1275" b="1">
                <a:solidFill>
                  <a:srgbClr val="027A48"/>
                </a:solidFill>
              </a:rPr>
              <a:t>Ultima verificare: 24 august 2026 · suita completă a rulat cu status OK.</a:t>
            </a:r>
          </a:p>
        </p:txBody>
      </p:sp>
      <p:sp>
        <p:nvSpPr>
          <p:cNvPr id="28" name="footer-14">
            <a:extLst xmlns:a="http://schemas.openxmlformats.org/drawingml/2006/main">
              <a:ext uri="{FF2B5EF4-FFF2-40B4-BE49-F238E27FC236}">
                <a16:creationId xmlns:a16="http://schemas.microsoft.com/office/drawing/2014/main" id="{2FCA545B-8A4D-46C7-85A2-D3741EA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CALITATE</a:t>
            </a:r>
          </a:p>
        </p:txBody>
      </p:sp>
      <p:sp>
        <p:nvSpPr>
          <p:cNvPr id="29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CD03FC74-41F8-4F88-A079-9B8DDFC7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90466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64B0C4-C639-41B4-93CE-4C3FFE01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CONCLUZIE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B3337-6958-4E0F-8DC1-C7BAD4A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Un singur fir: de la observație la manuscris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790700" y="28003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5DD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3981450" y="28003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5DD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172200" y="28003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5DD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362950" y="28003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5DD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A0C88-FB61-494A-8BB6-B39A0DB8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C23DB-B3DD-450C-9F52-798130C9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4169D-AED4-4664-80BB-4E0551FD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Capturare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D7960-A6F7-452F-B8A8-2887E71F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14974-BEE5-49E9-8E39-BA53AA1A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AF361-1143-4BA7-8482-79F73F87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Înțelegere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E1B2-960C-46BF-B4BF-DACFFC1C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7466B-D853-4831-B34C-E742FCBA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EC068-19DA-4644-A444-B5C3600E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Literatură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D1420-22B0-4DB9-A488-2C2F4F47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3138F-73DB-4DC6-95A0-F35B0AD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6B344-E356-47CB-8415-57031B0D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Analiză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D27AC-36BC-4D6B-A806-05CB345C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1A774-EB7D-4AB9-BED0-5344AE50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10FB8-0A13-4EAC-B6AA-C1D7B3D7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Redactare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3CBD8-3C2F-4DA5-BFBB-2422FAF1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7099C-4AC7-40FC-9EB2-6530156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7B7"/>
                </a:solidFill>
              </a:defRPr>
            </a:pPr>
            <a:r>
              <a:rPr sz="1725" b="1">
                <a:solidFill>
                  <a:srgbClr val="0D57B7"/>
                </a:solidFill>
              </a:rPr>
              <a:t>Produs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0F3A7-E645-4617-813B-4D03FC3B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Un workflow coerent pentru munca reală a cercetătorului.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B6338-8F48-4F06-ABDD-53C6BECD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33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7B7"/>
                </a:solidFill>
              </a:defRPr>
            </a:pPr>
            <a:r>
              <a:rPr sz="1725" b="1">
                <a:solidFill>
                  <a:srgbClr val="0D57B7"/>
                </a:solidFill>
              </a:rPr>
              <a:t>Inginerie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84848-6B70-43A8-8954-721C5145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00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Arhitectură modulară, cloud securizat și fallback-uri testabile.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BAB08-299E-4C83-852E-C1E109B0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33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7B7"/>
                </a:solidFill>
              </a:defRPr>
            </a:pPr>
            <a:r>
              <a:rPr sz="1725" b="1">
                <a:solidFill>
                  <a:srgbClr val="0D57B7"/>
                </a:solidFill>
              </a:rPr>
              <a:t>AI responsabil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8F73AA-D542-4481-B00B-B53E60D1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00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Grounding, scheme, trasabilitate și control uman la fiecare etapă.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D72776-B8AC-4D05-82E5-E1EE5C30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Proiectul demonstrează o evoluție completă: idee → produs → infrastructură → validare.</a:t>
            </a:r>
          </a:p>
        </p:txBody>
      </p:sp>
      <p:sp>
        <p:nvSpPr>
          <p:cNvPr id="30" name="footer-15">
            <a:extLst xmlns:a="http://schemas.openxmlformats.org/drawingml/2006/main">
              <a:ext uri="{FF2B5EF4-FFF2-40B4-BE49-F238E27FC236}">
                <a16:creationId xmlns:a16="http://schemas.microsoft.com/office/drawing/2014/main" id="{4A24E7C9-5826-4F43-9E2D-DD94E15F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CONCLUZIE</a:t>
            </a:r>
          </a:p>
        </p:txBody>
      </p:sp>
      <p:sp>
        <p:nvSpPr>
          <p:cNvPr id="31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577A3870-D156-4958-98F9-266A2004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44378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2026-08-24T10:52:02.4790000Z</dcterms:created>
  <dcterms:modified xsi:type="dcterms:W3CDTF">2026-08-24T10:52:02.4790000Z</dcterms:modified>
</coreProperties>
</file>