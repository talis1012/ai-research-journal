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523a4f40774b47" /><Relationship Type="http://schemas.openxmlformats.org/officeDocument/2006/relationships/extended-properties" Target="/docProps/app.xml" Id="R033f8dc7637e428f" /><Relationship Type="http://schemas.openxmlformats.org/officeDocument/2006/relationships/officeDocument" Target="/ppt/presentation.xml" Id="Rf6ff0a7472f146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f214ecff7c49a1"/>
  </p:sldMasterIdLst>
  <p:notesMasterIdLst>
    <p:notesMasterId xmlns:r="http://schemas.openxmlformats.org/officeDocument/2006/relationships" r:id="R0724cd078f2440b5"/>
  </p:notesMasterIdLst>
  <p:sldIdLst>
    <p:sldId xmlns:r="http://schemas.openxmlformats.org/officeDocument/2006/relationships" id="256" r:id="Re6314194273c4c92"/>
    <p:sldId xmlns:r="http://schemas.openxmlformats.org/officeDocument/2006/relationships" id="257" r:id="R15e02f38a6da48f5"/>
    <p:sldId xmlns:r="http://schemas.openxmlformats.org/officeDocument/2006/relationships" id="258" r:id="Rc49f7f4397304e4f"/>
    <p:sldId xmlns:r="http://schemas.openxmlformats.org/officeDocument/2006/relationships" id="259" r:id="R50a6ebf7e2284733"/>
    <p:sldId xmlns:r="http://schemas.openxmlformats.org/officeDocument/2006/relationships" id="260" r:id="R70cad2b8899e4988"/>
    <p:sldId xmlns:r="http://schemas.openxmlformats.org/officeDocument/2006/relationships" id="261" r:id="Rda4261c0e31c45c3"/>
    <p:sldId xmlns:r="http://schemas.openxmlformats.org/officeDocument/2006/relationships" id="262" r:id="R5de3e9aada4d499f"/>
    <p:sldId xmlns:r="http://schemas.openxmlformats.org/officeDocument/2006/relationships" id="263" r:id="R4c3e9d8a81de490d"/>
    <p:sldId xmlns:r="http://schemas.openxmlformats.org/officeDocument/2006/relationships" id="264" r:id="R91071cd4bac1474f"/>
    <p:sldId xmlns:r="http://schemas.openxmlformats.org/officeDocument/2006/relationships" id="265" r:id="Rf17bc1e98c7e443d"/>
    <p:sldId xmlns:r="http://schemas.openxmlformats.org/officeDocument/2006/relationships" id="266" r:id="R1d8809c3c9094a1b"/>
    <p:sldId xmlns:r="http://schemas.openxmlformats.org/officeDocument/2006/relationships" id="267" r:id="R6f92d7cd83024d6c"/>
    <p:sldId xmlns:r="http://schemas.openxmlformats.org/officeDocument/2006/relationships" id="268" r:id="Rf9c0eb6756e44653"/>
    <p:sldId xmlns:r="http://schemas.openxmlformats.org/officeDocument/2006/relationships" id="269" r:id="R95d9f68e74ff431e"/>
    <p:sldId xmlns:r="http://schemas.openxmlformats.org/officeDocument/2006/relationships" id="270" r:id="R7311b85578e040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b5d2c85a934137" /><Relationship Type="http://schemas.openxmlformats.org/officeDocument/2006/relationships/slideMaster" Target="/ppt/slideMasters/slideMaster1.xml" Id="Raff214ecff7c49a1" /><Relationship Type="http://schemas.openxmlformats.org/officeDocument/2006/relationships/notesMaster" Target="/ppt/notesMasters/notesMaster1.xml" Id="R0724cd078f2440b5" /><Relationship Type="http://schemas.openxmlformats.org/officeDocument/2006/relationships/presProps" Target="/ppt/presProps.xml" Id="Rc0c4998e1f1d459a" /><Relationship Type="http://schemas.openxmlformats.org/officeDocument/2006/relationships/tableStyles" Target="/ppt/tableStyles.xml" Id="Re6dd106929ec417e" /><Relationship Type="http://schemas.openxmlformats.org/officeDocument/2006/relationships/slide" Target="/ppt/slides/slide1.xml" Id="Re6314194273c4c92" /><Relationship Type="http://schemas.openxmlformats.org/officeDocument/2006/relationships/slide" Target="/ppt/slides/slide2.xml" Id="R15e02f38a6da48f5" /><Relationship Type="http://schemas.openxmlformats.org/officeDocument/2006/relationships/slide" Target="/ppt/slides/slide3.xml" Id="Rc49f7f4397304e4f" /><Relationship Type="http://schemas.openxmlformats.org/officeDocument/2006/relationships/slide" Target="/ppt/slides/slide4.xml" Id="R50a6ebf7e2284733" /><Relationship Type="http://schemas.openxmlformats.org/officeDocument/2006/relationships/slide" Target="/ppt/slides/slide5.xml" Id="R70cad2b8899e4988" /><Relationship Type="http://schemas.openxmlformats.org/officeDocument/2006/relationships/slide" Target="/ppt/slides/slide6.xml" Id="Rda4261c0e31c45c3" /><Relationship Type="http://schemas.openxmlformats.org/officeDocument/2006/relationships/slide" Target="/ppt/slides/slide7.xml" Id="R5de3e9aada4d499f" /><Relationship Type="http://schemas.openxmlformats.org/officeDocument/2006/relationships/slide" Target="/ppt/slides/slide8.xml" Id="R4c3e9d8a81de490d" /><Relationship Type="http://schemas.openxmlformats.org/officeDocument/2006/relationships/slide" Target="/ppt/slides/slide9.xml" Id="R91071cd4bac1474f" /><Relationship Type="http://schemas.openxmlformats.org/officeDocument/2006/relationships/slide" Target="/ppt/slides/slide10.xml" Id="Rf17bc1e98c7e443d" /><Relationship Type="http://schemas.openxmlformats.org/officeDocument/2006/relationships/slide" Target="/ppt/slides/slide11.xml" Id="R1d8809c3c9094a1b" /><Relationship Type="http://schemas.openxmlformats.org/officeDocument/2006/relationships/slide" Target="/ppt/slides/slide12.xml" Id="R6f92d7cd83024d6c" /><Relationship Type="http://schemas.openxmlformats.org/officeDocument/2006/relationships/slide" Target="/ppt/slides/slide13.xml" Id="Rf9c0eb6756e44653" /><Relationship Type="http://schemas.openxmlformats.org/officeDocument/2006/relationships/slide" Target="/ppt/slides/slide14.xml" Id="R95d9f68e74ff431e" /><Relationship Type="http://schemas.openxmlformats.org/officeDocument/2006/relationships/slide" Target="/ppt/slides/slide15.xml" Id="R7311b85578e040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762d9368364f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c55079382f4027" /><Relationship Type="http://schemas.openxmlformats.org/officeDocument/2006/relationships/notesMaster" Target="/ppt/notesMasters/notesMaster1.xml" Id="R600f93a6b2be45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39c12d4d2d42bd" /><Relationship Type="http://schemas.openxmlformats.org/officeDocument/2006/relationships/notesMaster" Target="/ppt/notesMasters/notesMaster1.xml" Id="R4860eb5c884941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42f621958f40f1" /><Relationship Type="http://schemas.openxmlformats.org/officeDocument/2006/relationships/notesMaster" Target="/ppt/notesMasters/notesMaster1.xml" Id="R81e56758675a4d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27039cfd5a4eb5" /><Relationship Type="http://schemas.openxmlformats.org/officeDocument/2006/relationships/notesMaster" Target="/ppt/notesMasters/notesMaster1.xml" Id="R2df450bc429b40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7c4bdf4fd74e2f" /><Relationship Type="http://schemas.openxmlformats.org/officeDocument/2006/relationships/notesMaster" Target="/ppt/notesMasters/notesMaster1.xml" Id="R07076f2efccf45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d329779c8b48e9" /><Relationship Type="http://schemas.openxmlformats.org/officeDocument/2006/relationships/notesMaster" Target="/ppt/notesMasters/notesMaster1.xml" Id="R33202f1fa4df49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84cfc133ae4f26" /><Relationship Type="http://schemas.openxmlformats.org/officeDocument/2006/relationships/notesMaster" Target="/ppt/notesMasters/notesMaster1.xml" Id="R41d5d229e24048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e42b856da64501" /><Relationship Type="http://schemas.openxmlformats.org/officeDocument/2006/relationships/notesMaster" Target="/ppt/notesMasters/notesMaster1.xml" Id="R4a7d2cf57c7f46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b661d855f84db5" /><Relationship Type="http://schemas.openxmlformats.org/officeDocument/2006/relationships/notesMaster" Target="/ppt/notesMasters/notesMaster1.xml" Id="Ra266b2df260b489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b4300117094aca" /><Relationship Type="http://schemas.openxmlformats.org/officeDocument/2006/relationships/notesMaster" Target="/ppt/notesMasters/notesMaster1.xml" Id="R497c4f752689440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901ddbcc7d246f2" /><Relationship Type="http://schemas.openxmlformats.org/officeDocument/2006/relationships/notesMaster" Target="/ppt/notesMasters/notesMaster1.xml" Id="R374ca1a72e994c8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a1d9750659e4f06" /><Relationship Type="http://schemas.openxmlformats.org/officeDocument/2006/relationships/notesMaster" Target="/ppt/notesMasters/notesMaster1.xml" Id="Rc486c5602a8e4ad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3a051558bcc4857" /><Relationship Type="http://schemas.openxmlformats.org/officeDocument/2006/relationships/notesMaster" Target="/ppt/notesMasters/notesMaster1.xml" Id="Ra32c5b4e47314c5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dd57c1e48e0471d" /><Relationship Type="http://schemas.openxmlformats.org/officeDocument/2006/relationships/notesMaster" Target="/ppt/notesMasters/notesMaster1.xml" Id="R413a33d863964f1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6072d1658654a39" /><Relationship Type="http://schemas.openxmlformats.org/officeDocument/2006/relationships/notesMaster" Target="/ppt/notesMasters/notesMaster1.xml" Id="R562a5512a1844d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Deschid prin ideea centrală: proiectul nu este doar o colecție de funcții AI, ci un fir continuu de lucru pentru cercetare. Intervalul reflectă primul și ultimul commit funcțional din repository.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git log</a:t>
            </a:r>
          </a:p>
          <a:p xmlns:a="http://schemas.openxmlformats.org/drawingml/2006/main">
            <a:r>
              <a:t>- design/ui_mockups/data-analysis.png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Prezint problema înaintea funcțiilor: cercetătorul nu are nevoie de încă un chatbot, ci de continuitate și trasabilitate între etapele muncii sale.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app.py</a:t>
            </a:r>
          </a:p>
          <a:p xmlns:a="http://schemas.openxmlformats.org/drawingml/2006/main">
            <a:r>
              <a:t>- pages/1_Experiments.py</a:t>
            </a:r>
          </a:p>
          <a:p xmlns:a="http://schemas.openxmlformats.org/drawingml/2006/main">
            <a:r>
              <a:t>- pages/2_Library.py</a:t>
            </a:r>
          </a:p>
          <a:p xmlns:a="http://schemas.openxmlformats.org/drawingml/2006/main">
            <a:r>
              <a:t>- pages/3_Paper_Writing.py</a:t>
            </a:r>
          </a:p>
          <a:p xmlns:a="http://schemas.openxmlformats.org/drawingml/2006/main">
            <a:r>
              <a:t>- pages/4_Data_Analysis.py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 evoluția în ordinea commit-urilor. Redesign-ul nu a fost doar vizual: a consolidat mai multe pagini vechi într-un workspace de Experiments și a pregătit cele patru destinații actuale.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log --date=short --reverse</a:t>
            </a:r>
          </a:p>
          <a:p xmlns:a="http://schemas.openxmlformats.org/drawingml/2006/main">
            <a:r>
              <a:t>- commits 5546d19, 82ce865, 9f12e75, 548be76, c309492, 3f0a056, f127ce3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Subliniez diferența dintre funcționalitate și maturitate: autentificarea, migrarea datelor, performanța și testele au făcut posibilă folosirea sigură în cloud.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log --date=short --reverse</a:t>
            </a:r>
          </a:p>
          <a:p xmlns:a="http://schemas.openxmlformats.org/drawingml/2006/main">
            <a:r>
              <a:t>- commits 9012e88, 732dab9, 5dc6f3a, a15429e, 3acefc2, 5a194d3, ac99f66, 16b3c5b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Arăt separarea pe straturi. Pagina Streamlit nu conține direct toate detaliile de AI sau storage; acestea sunt encapsulate în servicii, provider și query layer. Abstracția AI permite Gemini în producție și un provider determinist în teste.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app.py</a:t>
            </a:r>
          </a:p>
          <a:p xmlns:a="http://schemas.openxmlformats.org/drawingml/2006/main">
            <a:r>
              <a:t>- pages/*.py</a:t>
            </a:r>
          </a:p>
          <a:p xmlns:a="http://schemas.openxmlformats.org/drawingml/2006/main">
            <a:r>
              <a:t>- services/*.py</a:t>
            </a:r>
          </a:p>
          <a:p xmlns:a="http://schemas.openxmlformats.org/drawingml/2006/main">
            <a:r>
              <a:t>- ai/base.py</a:t>
            </a:r>
          </a:p>
          <a:p xmlns:a="http://schemas.openxmlformats.org/drawingml/2006/main">
            <a:r>
              <a:t>- ai/factory.py</a:t>
            </a:r>
          </a:p>
          <a:p xmlns:a="http://schemas.openxmlformats.org/drawingml/2006/main">
            <a:r>
              <a:t>- ai/gemini_provider.py</a:t>
            </a:r>
          </a:p>
          <a:p xmlns:a="http://schemas.openxmlformats.org/drawingml/2006/main">
            <a:r>
              <a:t>- ai/mock_provider.py</a:t>
            </a:r>
          </a:p>
          <a:p xmlns:a="http://schemas.openxmlformats.org/drawingml/2006/main">
            <a:r>
              <a:t>- db/*.py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Aceasta este baza proiectului. Fiecare experiment are note, audio și o conversație AI proprie; datele nu sunt amestecate între proiecte sau utilizatori. Transcrierea este salvată ca observație editabilă.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pages/1_Experiments.py</a:t>
            </a:r>
          </a:p>
          <a:p xmlns:a="http://schemas.openxmlformats.org/drawingml/2006/main">
            <a:r>
              <a:t>- services/transcription_service.py</a:t>
            </a:r>
          </a:p>
          <a:p xmlns:a="http://schemas.openxmlformats.org/drawingml/2006/main">
            <a:r>
              <a:t>- services/chat_service.py</a:t>
            </a:r>
          </a:p>
          <a:p xmlns:a="http://schemas.openxmlformats.org/drawingml/2006/main">
            <a:r>
              <a:t>- db/queries.py</a:t>
            </a:r>
          </a:p>
          <a:p xmlns:a="http://schemas.openxmlformats.org/drawingml/2006/main">
            <a:r>
              <a:t>- design/ui_mockups/experiments-workspace.png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Subliniez caracterul editabil. AI-ul propune, dar cercetătorul poate modifica rezumatele și ideile. Mind map-ul folosește stări de sursă și hash-uri pentru actualizări incrementale.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pages/1_Experiments.py</a:t>
            </a:r>
          </a:p>
          <a:p xmlns:a="http://schemas.openxmlformats.org/drawingml/2006/main">
            <a:r>
              <a:t>- services/summary_service.py</a:t>
            </a:r>
          </a:p>
          <a:p xmlns:a="http://schemas.openxmlformats.org/drawingml/2006/main">
            <a:r>
              <a:t>- services/mindmap_service.py</a:t>
            </a:r>
          </a:p>
          <a:p xmlns:a="http://schemas.openxmlformats.org/drawingml/2006/main">
            <a:r>
              <a:t>- db/queries.py</a:t>
            </a:r>
          </a:p>
          <a:p xmlns:a="http://schemas.openxmlformats.org/drawingml/2006/main">
            <a:r>
              <a:t>- tests/test_insight_editing.py</a:t>
            </a:r>
          </a:p>
          <a:p xmlns:a="http://schemas.openxmlformats.org/drawingml/2006/main">
            <a:r>
              <a:t>- design/ui_mockups/experiments-insights.png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Library devine sursa comună pentru articole, fișiere și dataseturi. Layer-ul de storage validează calea și tipul, iar query layer-ul leagă item-urile de proiecte și taguri.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pages/2_Library.py</a:t>
            </a:r>
          </a:p>
          <a:p xmlns:a="http://schemas.openxmlformats.org/drawingml/2006/main">
            <a:r>
              <a:t>- services/library_service.py</a:t>
            </a:r>
          </a:p>
          <a:p xmlns:a="http://schemas.openxmlformats.org/drawingml/2006/main">
            <a:r>
              <a:t>- db/library_queries.py</a:t>
            </a:r>
          </a:p>
          <a:p xmlns:a="http://schemas.openxmlformats.org/drawingml/2006/main">
            <a:r>
              <a:t>- tests/test_library.py</a:t>
            </a:r>
          </a:p>
          <a:p xmlns:a="http://schemas.openxmlformats.org/drawingml/2006/main">
            <a:r>
              <a:t>- design/ui_mockups/library-my-library.png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 diferența dintre search și ranking. OpenAlex oferă candidații; aplicația deduplică și calculează un scor determinist înainte de reevaluarea AI. Eșecul AI nu distruge rezultatele de bază.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pages/2_Library.py</a:t>
            </a:r>
          </a:p>
          <a:p xmlns:a="http://schemas.openxmlformats.org/drawingml/2006/main">
            <a:r>
              <a:t>- services/openalex_service.py</a:t>
            </a:r>
          </a:p>
          <a:p xmlns:a="http://schemas.openxmlformats.org/drawingml/2006/main">
            <a:r>
              <a:t>- services/discovery_service.py</a:t>
            </a:r>
          </a:p>
          <a:p xmlns:a="http://schemas.openxmlformats.org/drawingml/2006/main">
            <a:r>
              <a:t>- db/discovery_queries.py</a:t>
            </a:r>
          </a:p>
          <a:p xmlns:a="http://schemas.openxmlformats.org/drawingml/2006/main">
            <a:r>
              <a:t>- tests/test_discovery.py</a:t>
            </a:r>
          </a:p>
          <a:p xmlns:a="http://schemas.openxmlformats.org/drawingml/2006/main">
            <a:r>
              <a:t>- tests/test_discovery_persistence.py</a:t>
            </a:r>
          </a:p>
          <a:p xmlns:a="http://schemas.openxmlformats.org/drawingml/2006/main">
            <a:r>
              <a:t>- design/ui_mockups/library-discover.png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Paper Writing este cel mai complex modul. Sugestiile AI nu înlocuiesc direct textul fără control: utilizatorul vede propunerea și schimbările. Versiunile permit restaurarea întregului manuscris sau a unei singure secțiuni.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pages/3_Paper_Writing.py</a:t>
            </a:r>
          </a:p>
          <a:p xmlns:a="http://schemas.openxmlformats.org/drawingml/2006/main">
            <a:r>
              <a:t>- db/writing_queries.py</a:t>
            </a:r>
          </a:p>
          <a:p xmlns:a="http://schemas.openxmlformats.org/drawingml/2006/main">
            <a:r>
              <a:t>- services/writing_service.py</a:t>
            </a:r>
          </a:p>
          <a:p xmlns:a="http://schemas.openxmlformats.org/drawingml/2006/main">
            <a:r>
              <a:t>- services/manuscript_review_service.py</a:t>
            </a:r>
          </a:p>
          <a:p xmlns:a="http://schemas.openxmlformats.org/drawingml/2006/main">
            <a:r>
              <a:t>- services/manuscript_export_service.py</a:t>
            </a:r>
          </a:p>
          <a:p xmlns:a="http://schemas.openxmlformats.org/drawingml/2006/main">
            <a:r>
              <a:t>- tests/test_writing.py</a:t>
            </a:r>
          </a:p>
          <a:p xmlns:a="http://schemas.openxmlformats.org/drawingml/2006/main">
            <a:r>
              <a:t>- design/ui_mockups/paper-writing.png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Modulul separă validarea datelor, preprocessing-ul și estimatorul. Sunt acoperite clasificarea, regresia, clustering-ul, reducerea dimensionalității și detectarea anomaliilor.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pages/4_Data_Analysis.py</a:t>
            </a:r>
          </a:p>
          <a:p xmlns:a="http://schemas.openxmlformats.org/drawingml/2006/main">
            <a:r>
              <a:t>- services/data_analysis_service.py</a:t>
            </a:r>
          </a:p>
          <a:p xmlns:a="http://schemas.openxmlformats.org/drawingml/2006/main">
            <a:r>
              <a:t>- db/data_analysis_queries.py</a:t>
            </a:r>
          </a:p>
          <a:p xmlns:a="http://schemas.openxmlformats.org/drawingml/2006/main">
            <a:r>
              <a:t>- tests/test_data_analysis.py</a:t>
            </a:r>
          </a:p>
          <a:p xmlns:a="http://schemas.openxmlformats.org/drawingml/2006/main">
            <a:r>
              <a:t>- design/ui_mockups/data-analysis-v2.png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Arăt lanțul identității. Auth0 autentifică, aplicația activează un UserScope, PostgreSQL folosește claim-urile pentru RLS, iar Storage acceptă numai obiecte sub prefixul utilizatorului. Optimizările reduc costul acestui model de securitate.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utils/auth.py</a:t>
            </a:r>
          </a:p>
          <a:p xmlns:a="http://schemas.openxmlformats.org/drawingml/2006/main">
            <a:r>
              <a:t>- utils/user_scope.py</a:t>
            </a:r>
          </a:p>
          <a:p xmlns:a="http://schemas.openxmlformats.org/drawingml/2006/main">
            <a:r>
              <a:t>- db/database.py</a:t>
            </a:r>
          </a:p>
          <a:p xmlns:a="http://schemas.openxmlformats.org/drawingml/2006/main">
            <a:r>
              <a:t>- services/supabase_storage.py</a:t>
            </a:r>
          </a:p>
          <a:p xmlns:a="http://schemas.openxmlformats.org/drawingml/2006/main">
            <a:r>
              <a:t>- services/resource_limits.py</a:t>
            </a:r>
          </a:p>
          <a:p xmlns:a="http://schemas.openxmlformats.org/drawingml/2006/main">
            <a:r>
              <a:t>- utils/query_cache.py</a:t>
            </a:r>
          </a:p>
          <a:p xmlns:a="http://schemas.openxmlformats.org/drawingml/2006/main">
            <a:r>
              <a:t>- supabase/migrations/*.sql</a:t>
            </a:r>
          </a:p>
          <a:p xmlns:a="http://schemas.openxmlformats.org/drawingml/2006/main">
            <a:r>
              <a:t>- docs/PERFORMANCE_DEPLOYMENT.md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Închei cronologia cu funcția cea mai nouă. Fiecare articol devine un caz semantic standardizat. Retrieval-ul folosește embedding-uri și grupează strategiile experimentale raportate, păstrând fragmentele-sursă și calitatea dovezii.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pages/2_Library.py</a:t>
            </a:r>
          </a:p>
          <a:p xmlns:a="http://schemas.openxmlformats.org/drawingml/2006/main">
            <a:r>
              <a:t>- services/research_case_service.py</a:t>
            </a:r>
          </a:p>
          <a:p xmlns:a="http://schemas.openxmlformats.org/drawingml/2006/main">
            <a:r>
              <a:t>- db/research_case_queries.py</a:t>
            </a:r>
          </a:p>
          <a:p xmlns:a="http://schemas.openxmlformats.org/drawingml/2006/main">
            <a:r>
              <a:t>- supabase/migrations/20260819130000_add_research_cases.sql</a:t>
            </a:r>
          </a:p>
          <a:p xmlns:a="http://schemas.openxmlformats.org/drawingml/2006/main">
            <a:r>
              <a:t>- tests/test_research_cases.py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Metricile au fost recalculate înaintea generării prezentării. Am rulat suita completă cu unittest: toate cele 86 de teste au trecut. Categoriile acoperă atât funcțiile principale, cât și securitatea și infrastructura.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rev-list --count HEAD</a:t>
            </a:r>
          </a:p>
          <a:p xmlns:a="http://schemas.openxmlformats.org/drawingml/2006/main">
            <a:r>
              <a:t>- find/wc metrics over *.py</a:t>
            </a:r>
          </a:p>
          <a:p xmlns:a="http://schemas.openxmlformats.org/drawingml/2006/main">
            <a:r>
              <a:t>- tests/*.py</a:t>
            </a:r>
          </a:p>
          <a:p xmlns:a="http://schemas.openxmlformats.org/drawingml/2006/main">
            <a:r>
              <a:t>- unittest discover run on 2026-08-20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Revin la problema de la început și arăt că firul informației nu se mai rupe. Închei cu cele trei dimensiuni ale rezultatului: valoare de produs, calitate de inginerie și utilizare responsabilă a AI-ului.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Git history</a:t>
            </a:r>
          </a:p>
          <a:p xmlns:a="http://schemas.openxmlformats.org/drawingml/2006/main">
            <a:r>
              <a:t>- pages/*.py</a:t>
            </a:r>
          </a:p>
          <a:p xmlns:a="http://schemas.openxmlformats.org/drawingml/2006/main">
            <a:r>
              <a:t>- services/*.py</a:t>
            </a:r>
          </a:p>
          <a:p xmlns:a="http://schemas.openxmlformats.org/drawingml/2006/main">
            <a:r>
              <a:t>- tests/*.py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c6e82f5c2747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3b6f05075445c5" /><Relationship Type="http://schemas.openxmlformats.org/officeDocument/2006/relationships/slideLayout" Target="/ppt/slideLayouts/slideLayout1.xml" Id="R44cb5edcccf64c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cb5edcccf64c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a1c06aa0a4a2d" /><Relationship Type="http://schemas.openxmlformats.org/officeDocument/2006/relationships/image" Target="/ppt/media/image.png" Id="R05830f36827d4d6b" /><Relationship Type="http://schemas.openxmlformats.org/officeDocument/2006/relationships/notesSlide" Target="/ppt/notesSlides/notesSlide1.xml" Id="R816735dc881f4b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14363397fc4b90" /><Relationship Type="http://schemas.openxmlformats.org/officeDocument/2006/relationships/notesSlide" Target="/ppt/notesSlides/notesSlide2.xml" Id="Rb81560011aa841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467e6298da4321" /><Relationship Type="http://schemas.openxmlformats.org/officeDocument/2006/relationships/notesSlide" Target="/ppt/notesSlides/notesSlide3.xml" Id="R497d5b02013842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bc4fbc426741ac" /><Relationship Type="http://schemas.openxmlformats.org/officeDocument/2006/relationships/notesSlide" Target="/ppt/notesSlides/notesSlide4.xml" Id="R74bf267c6edf4d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92eb5652d4b5e" /><Relationship Type="http://schemas.openxmlformats.org/officeDocument/2006/relationships/notesSlide" Target="/ppt/notesSlides/notesSlide5.xml" Id="R54bb2bde470c49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ffe7c9eb24c65" /><Relationship Type="http://schemas.openxmlformats.org/officeDocument/2006/relationships/image" Target="/ppt/media/image2.png" Id="Rc273ddbf6ddb4fa5" /><Relationship Type="http://schemas.openxmlformats.org/officeDocument/2006/relationships/notesSlide" Target="/ppt/notesSlides/notesSlide6.xml" Id="R12d1b69a24104f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91ba86bff4042" /><Relationship Type="http://schemas.openxmlformats.org/officeDocument/2006/relationships/image" Target="/ppt/media/image3.png" Id="Ra119d635091443f0" /><Relationship Type="http://schemas.openxmlformats.org/officeDocument/2006/relationships/notesSlide" Target="/ppt/notesSlides/notesSlide7.xml" Id="R2e1ae4ecf4ee43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e3f9f03ebc4483" /><Relationship Type="http://schemas.openxmlformats.org/officeDocument/2006/relationships/image" Target="/ppt/media/image4.png" Id="Rab1f94d2e8ad452e" /><Relationship Type="http://schemas.openxmlformats.org/officeDocument/2006/relationships/notesSlide" Target="/ppt/notesSlides/notesSlide8.xml" Id="Ra9e5549a641145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d83de5da44a19" /><Relationship Type="http://schemas.openxmlformats.org/officeDocument/2006/relationships/image" Target="/ppt/media/image5.png" Id="R192dae69f10b4720" /><Relationship Type="http://schemas.openxmlformats.org/officeDocument/2006/relationships/notesSlide" Target="/ppt/notesSlides/notesSlide9.xml" Id="Rda1f43e82bc643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bbb6c47924af5" /><Relationship Type="http://schemas.openxmlformats.org/officeDocument/2006/relationships/image" Target="/ppt/media/image6.png" Id="Rb46cd30dc97e4f1d" /><Relationship Type="http://schemas.openxmlformats.org/officeDocument/2006/relationships/notesSlide" Target="/ppt/notesSlides/notesSlide10.xml" Id="R0267182f624848b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a5590cc4744e21" /><Relationship Type="http://schemas.openxmlformats.org/officeDocument/2006/relationships/image" Target="/ppt/media/image7.png" Id="R409aea6d7c904291" /><Relationship Type="http://schemas.openxmlformats.org/officeDocument/2006/relationships/notesSlide" Target="/ppt/notesSlides/notesSlide11.xml" Id="R34e8390d3597484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c4a2bd2a94505" /><Relationship Type="http://schemas.openxmlformats.org/officeDocument/2006/relationships/notesSlide" Target="/ppt/notesSlides/notesSlide12.xml" Id="R833a468733ec499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f05b5926f4dcd" /><Relationship Type="http://schemas.openxmlformats.org/officeDocument/2006/relationships/notesSlide" Target="/ppt/notesSlides/notesSlide13.xml" Id="R23fdb04b3f3b44f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85ee875d54e48" /><Relationship Type="http://schemas.openxmlformats.org/officeDocument/2006/relationships/notesSlide" Target="/ppt/notesSlides/notesSlide14.xml" Id="Rcf954bc84168437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d63cc479f473b" /><Relationship Type="http://schemas.openxmlformats.org/officeDocument/2006/relationships/notesSlide" Target="/ppt/notesSlides/notesSlide15.xml" Id="R9e1166e9614f4c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019EAB-6E21-4797-8B2D-FFCDBB98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D2"/>
                </a:solidFill>
              </a:defRPr>
            </a:pPr>
            <a:r>
              <a:rPr sz="1050" b="1">
                <a:solidFill>
                  <a:srgbClr val="1769D2"/>
                </a:solidFill>
              </a:rPr>
              <a:t>PREZENTARE FINALĂ · INTERNSHIP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F529717-0A9F-4D92-A79F-3042339B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542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1828"/>
                </a:solidFill>
              </a:defRPr>
            </a:pPr>
            <a:r>
              <a:rPr sz="4050" b="1">
                <a:solidFill>
                  <a:srgbClr val="101828"/>
                </a:solidFill>
              </a:rPr>
              <a:t>Research Journal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42C510-495F-4143-BF37-109C6C93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9850"/>
            <a:ext cx="51911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01828"/>
                </a:solidFill>
              </a:defRPr>
            </a:pPr>
            <a:r>
              <a:rPr sz="2100" b="0">
                <a:solidFill>
                  <a:srgbClr val="101828"/>
                </a:solidFill>
              </a:rPr>
              <a:t>De la jurnal local asistat de AI</a:t>
            </a:r>
          </a:p>
          <a:p xmlns:a="http://schemas.openxmlformats.org/drawingml/2006/main">
            <a:pPr algn="l">
              <a:defRPr sz="2100" b="0">
                <a:solidFill>
                  <a:srgbClr val="101828"/>
                </a:solidFill>
              </a:defRPr>
            </a:pPr>
            <a:r>
              <a:rPr sz="2100" b="0">
                <a:solidFill>
                  <a:srgbClr val="101828"/>
                </a:solidFill>
              </a:rPr>
              <a:t>la un workflow complet de cercetare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02C40-CD97-4434-A81D-07789BA0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FCB3F4-5DD7-4B52-81CA-C14AAF93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Vlad Ciripescu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75C5FB-06C0-4047-852B-66F3D705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09 iulie – 19 august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6A7EC8-B711-43E2-9987-638F7490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52450"/>
            <a:ext cx="5810250" cy="561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3E8ABD-0851-4F05-A349-AA3AD508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9906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D2"/>
                </a:solidFill>
              </a:defRPr>
            </a:pPr>
            <a:r>
              <a:rPr sz="975" b="1">
                <a:solidFill>
                  <a:srgbClr val="1769D2"/>
                </a:solidFill>
              </a:rPr>
              <a:t>WORKSPACE UNIFICAT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7B6374-4813-4EBB-805E-F631132F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28750"/>
            <a:ext cx="55054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830f36827d4d6b"/>
          <a:stretch xmlns:a="http://schemas.openxmlformats.org/drawingml/2006/main"/>
        </p:blipFill>
        <p:spPr>
          <a:xfrm xmlns:a="http://schemas.openxmlformats.org/drawingml/2006/main">
            <a:off x="6210300" y="1524920"/>
            <a:ext cx="5314950" cy="333191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EB4752-0222-4969-B7D5-7F4E368A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314950"/>
            <a:ext cx="531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</a:defRPr>
            </a:pPr>
            <a:r>
              <a:rPr sz="1200" b="1">
                <a:solidFill>
                  <a:srgbClr val="101828"/>
                </a:solidFill>
              </a:rPr>
              <a:t>Experiments  ·  Library  ·  Data Analysis  ·  Paper Writing</a:t>
            </a:r>
          </a:p>
        </p:txBody>
      </p:sp>
    </p:spTree>
    <p:extLst>
      <p:ext uri="{BB962C8B-B14F-4D97-AF65-F5344CB8AC3E}">
        <p14:creationId xmlns:p14="http://schemas.microsoft.com/office/powerpoint/2010/main" val="19538671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-2">
            <a:extLst xmlns:a="http://schemas.openxmlformats.org/drawingml/2006/main">
              <a:ext uri="{FF2B5EF4-FFF2-40B4-BE49-F238E27FC236}">
                <a16:creationId xmlns:a16="http://schemas.microsoft.com/office/drawing/2014/main" id="{2363E8DC-FF88-4CE5-B2FE-D5C62D8F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D2"/>
                </a:solidFill>
              </a:defRPr>
            </a:pPr>
            <a:r>
              <a:rPr sz="1050" b="1">
                <a:solidFill>
                  <a:srgbClr val="1769D2"/>
                </a:solidFill>
              </a:rPr>
              <a:t>PUNCTUL DE PORNIRE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BD16DB19-6775-44EF-8C6E-749B22EC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828"/>
                </a:solidFill>
              </a:defRPr>
            </a:pPr>
            <a:r>
              <a:rPr sz="3300" b="1">
                <a:solidFill>
                  <a:srgbClr val="101828"/>
                </a:solidFill>
              </a:rPr>
              <a:t>Informația fragmentată rupe firul cercetării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C3CE7F-A562-45DB-90AE-F25635D7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BEDB0-C122-4CD0-B74C-BC1A30EB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Un experiment produce note, fișiere, idei și rezultate; fără context comun, fiecare pas următor reconstruiește manual ce s-a întâmplat.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2EC358-EB07-4D66-BF01-F7486B74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D2"/>
                </a:solidFill>
              </a:defRPr>
            </a:pPr>
            <a:r>
              <a:rPr sz="1350" b="1">
                <a:solidFill>
                  <a:srgbClr val="1769D2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78252C-A71B-4649-B646-0FEBEB60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337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Capturare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622DC9-602D-40CD-AB3A-688FCB59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2362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Note scrise și audio rămân separate de proiect.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69BA66-C732-456B-99A3-FAA01FC4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24150"/>
            <a:ext cx="952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1CF6F8-12D0-487B-8EE1-E2630280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670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D2"/>
                </a:solidFill>
              </a:defRPr>
            </a:pPr>
            <a:r>
              <a:rPr sz="1350" b="1">
                <a:solidFill>
                  <a:srgbClr val="1769D2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AE782B-54E2-4D65-B1F1-4886194E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337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Înțelegere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73CEAF-E6FF-49F7-ACBF-2057618A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38550"/>
            <a:ext cx="2362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Rezumatele și conexiunile se refac manual.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8FA416-6C36-4166-B155-953146F2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24150"/>
            <a:ext cx="952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B6BB08-CFE0-4AE3-B780-7535BE3A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D2"/>
                </a:solidFill>
              </a:defRPr>
            </a:pPr>
            <a:r>
              <a:rPr sz="1350" b="1">
                <a:solidFill>
                  <a:srgbClr val="1769D2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820F6D-5D9A-4179-8459-D1051A72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337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Validare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62B534-BB5C-48D9-A267-B3A0C026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38550"/>
            <a:ext cx="2362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Literatura și analiza datelor trăiesc în instrumente diferite.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D01858-507F-4D0A-B965-EC1F5AC6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24150"/>
            <a:ext cx="952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A99689-76AD-47D4-9513-64D3470C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D2"/>
                </a:solidFill>
              </a:defRPr>
            </a:pPr>
            <a:r>
              <a:rPr sz="1350" b="1">
                <a:solidFill>
                  <a:srgbClr val="1769D2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C9A6CC-E54D-4977-8B10-5AA4C7B9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337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Comunicare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E0F185-E257-4D45-9C33-7DDAED0C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38550"/>
            <a:ext cx="2362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Manuscrisul pierde trasabilitatea către dovezi.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5CFB89-C259-4AC8-91D3-99277887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112776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1634C1-7F95-4B46-AC73-C47D5307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48275"/>
            <a:ext cx="10629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D57B7"/>
                </a:solidFill>
              </a:defRPr>
            </a:pPr>
            <a:r>
              <a:rPr sz="1800" b="1">
                <a:solidFill>
                  <a:srgbClr val="0D57B7"/>
                </a:solidFill>
              </a:rPr>
              <a:t>Obiectivul proiectului: un singur workspace care păstrează contextul de la observație până la lucrare.</a:t>
            </a:r>
          </a:p>
        </p:txBody>
      </p:sp>
      <p:sp>
        <p:nvSpPr>
          <p:cNvPr id="22" name="footer-2">
            <a:extLst xmlns:a="http://schemas.openxmlformats.org/drawingml/2006/main">
              <a:ext uri="{FF2B5EF4-FFF2-40B4-BE49-F238E27FC236}">
                <a16:creationId xmlns:a16="http://schemas.microsoft.com/office/drawing/2014/main" id="{20560334-0446-4045-8634-E61E337D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Vlad Ciripescu  ·  Research Journal AI  ·  CONTEXT</a:t>
            </a:r>
          </a:p>
        </p:txBody>
      </p:sp>
      <p:sp>
        <p:nvSpPr>
          <p:cNvPr id="23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E2B6C559-1C57-4A5A-BA77-62C7E08A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8"/>
                </a:solidFill>
              </a:defRPr>
            </a:pPr>
            <a:r>
              <a:rPr sz="1050" b="1">
                <a:solidFill>
                  <a:srgbClr val="10182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962275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-3">
            <a:extLst xmlns:a="http://schemas.openxmlformats.org/drawingml/2006/main">
              <a:ext uri="{FF2B5EF4-FFF2-40B4-BE49-F238E27FC236}">
                <a16:creationId xmlns:a16="http://schemas.microsoft.com/office/drawing/2014/main" id="{B6011900-FE39-4534-8B89-55D9B925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D2"/>
                </a:solidFill>
              </a:defRPr>
            </a:pPr>
            <a:r>
              <a:rPr sz="1050" b="1">
                <a:solidFill>
                  <a:srgbClr val="1769D2"/>
                </a:solidFill>
              </a:rPr>
              <a:t>CRONOLOGIE · IULIE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2CD6B9E6-1978-4965-ACE8-9ADFEE6D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În iulie, nucleul local a devenit un workspace coerent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0A1309-417A-4DD0-86DE-890441C0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1609725" y="3333750"/>
            <a:ext cx="8972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0D5DD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137E89-A239-4B4B-8166-A792E061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E3D35-8FDC-4026-828C-E1791A14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33675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09 IUL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696E6-64BC-45D0-BE3C-8FC88BCD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230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Prototipul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15D9E1-19A9-4582-967C-3DC01330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33875"/>
            <a:ext cx="2305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Proiecte, experimente, note, audio, rezumate și mind map.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7095E4-74E9-4EC4-9412-5247E507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678214-C357-4A82-A835-2003D519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33675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15–16 IUL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3ECB8B-3B3B-461F-BE68-69F0C789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14750"/>
            <a:ext cx="230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UI unificat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F448B7-368C-4E12-8B2A-8EBD2FF0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333875"/>
            <a:ext cx="2305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Patru destinații principale și un flux Experiments integrat.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A9E995-A8E6-42DC-87DA-B57C1A87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C9FB70-7495-4452-AF0B-31F308E1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33675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21 IUL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B9BAF4-2AB1-4A9F-8AA5-10D0C00E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14750"/>
            <a:ext cx="230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Library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6D4F2E-66C1-4487-9DE2-7C70E963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33875"/>
            <a:ext cx="2305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Fișiere, foldere, metadate și căutare OpenAlex contextuală.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E2A58C-A076-4DD8-8FFF-5A52EB0A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F7BC07-F72A-43A1-A41A-5A988C04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33675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69D2"/>
                </a:solidFill>
              </a:defRPr>
            </a:pPr>
            <a:r>
              <a:rPr sz="1200" b="1">
                <a:solidFill>
                  <a:srgbClr val="1769D2"/>
                </a:solidFill>
              </a:rPr>
              <a:t>21–23 IUL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7603F1-1176-4EE5-8F10-E1A19016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14750"/>
            <a:ext cx="230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Paper Writing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27C883-209C-4BED-989D-B961BA69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33875"/>
            <a:ext cx="2305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Outline, citări, asistent AI, review, versiuni și export.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49C283-88F4-4C00-AD83-B8B4E3BA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6737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D57B7"/>
                </a:solidFill>
              </a:defRPr>
            </a:pPr>
            <a:r>
              <a:rPr sz="1650" b="1">
                <a:solidFill>
                  <a:srgbClr val="0D57B7"/>
                </a:solidFill>
              </a:rPr>
              <a:t>Accentul s-a mutat de la funcții izolate la un produs navigabil cap-coadă.</a:t>
            </a:r>
          </a:p>
        </p:txBody>
      </p:sp>
      <p:sp>
        <p:nvSpPr>
          <p:cNvPr id="22" name="footer-3">
            <a:extLst xmlns:a="http://schemas.openxmlformats.org/drawingml/2006/main">
              <a:ext uri="{FF2B5EF4-FFF2-40B4-BE49-F238E27FC236}">
                <a16:creationId xmlns:a16="http://schemas.microsoft.com/office/drawing/2014/main" id="{2EDC9D21-1EA6-47ED-A279-0444018B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Vlad Ciripescu  ·  Research Journal AI  ·  CRONOLOGIE</a:t>
            </a:r>
          </a:p>
        </p:txBody>
      </p:sp>
      <p:sp>
        <p:nvSpPr>
          <p:cNvPr id="23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81811B76-FB6B-4024-8C96-851A21AD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8"/>
                </a:solidFill>
              </a:defRPr>
            </a:pPr>
            <a:r>
              <a:rPr sz="1050" b="1">
                <a:solidFill>
                  <a:srgbClr val="10182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067997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-4">
            <a:extLst xmlns:a="http://schemas.openxmlformats.org/drawingml/2006/main">
              <a:ext uri="{FF2B5EF4-FFF2-40B4-BE49-F238E27FC236}">
                <a16:creationId xmlns:a16="http://schemas.microsoft.com/office/drawing/2014/main" id="{D0B807B3-B4C0-48EF-94D6-60BA40D1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D2"/>
                </a:solidFill>
              </a:defRPr>
            </a:pPr>
            <a:r>
              <a:rPr sz="1050" b="1">
                <a:solidFill>
                  <a:srgbClr val="1769D2"/>
                </a:solidFill>
              </a:rPr>
              <a:t>CRONOLOGIE · AUGUST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2281B671-63FF-4A11-9BCC-33FB48B3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În august, proiectul a devenit sigur și cloud-ready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D6D3EC-DD9B-4DA2-AB01-126FEF5F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1609725" y="3333750"/>
            <a:ext cx="8972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0D5DD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F6DDAC-1D4D-49B4-BF4B-CE4B37E8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59BA47-42D6-4E02-A6C9-589771B2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33675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29–30 IUL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DA5B79-E03E-4F1A-A317-79DEF888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230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Identitate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F83BF2-78EB-448C-BDFF-934BDE09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33875"/>
            <a:ext cx="2305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Login Auth0, izolare per utilizator, limite și hardening.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BCEB53-D1E6-4306-82DD-CE49015D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9F1E83-BD11-4AD7-8F0A-7A3482DC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33675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03 AUG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FD801F-6149-4E2F-9973-ED8E3B24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14750"/>
            <a:ext cx="230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Data 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2EFE0E-C188-4B5D-887F-CD58F64D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333875"/>
            <a:ext cx="2305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Pipeline-uri scikit-learn, metrici, istoric și exporturi.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983D91-B8DD-4B7F-8975-EE6BC83F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520CDA-1AE2-4F65-BE33-E3263230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33675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05–06 AUG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D158C3-3F72-4581-BF1C-7975F2E1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14750"/>
            <a:ext cx="230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Supabase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7207ED-0EB9-456C-9B28-D78A972C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33875"/>
            <a:ext cx="2305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PostgreSQL, Storage privat, RLS, cache și pipeline DB.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DB4168-D09F-4AF3-830E-6FBD8349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C4CFBD-A03F-4D35-8C9E-E7E57739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33675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69D2"/>
                </a:solidFill>
              </a:defRPr>
            </a:pPr>
            <a:r>
              <a:rPr sz="1200" b="1">
                <a:solidFill>
                  <a:srgbClr val="1769D2"/>
                </a:solidFill>
              </a:rPr>
              <a:t>19 AUG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17E2E1-5664-498F-88C4-E3E5A4FF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14750"/>
            <a:ext cx="230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Research Cases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357BC5-3DBB-41D2-A038-9DD76054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33875"/>
            <a:ext cx="2305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Embedding-uri și recuperarea strategiilor din literatură.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2D8020-900B-4A9E-A3C8-8C2714B0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6737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D57B7"/>
                </a:solidFill>
              </a:defRPr>
            </a:pPr>
            <a:r>
              <a:rPr sz="1650" b="1">
                <a:solidFill>
                  <a:srgbClr val="0D57B7"/>
                </a:solidFill>
              </a:rPr>
              <a:t>Ultimele etape au transformat prototipul într-o aplicație deployabilă și verificabilă.</a:t>
            </a:r>
          </a:p>
        </p:txBody>
      </p:sp>
      <p:sp>
        <p:nvSpPr>
          <p:cNvPr id="22" name="footer-4">
            <a:extLst xmlns:a="http://schemas.openxmlformats.org/drawingml/2006/main">
              <a:ext uri="{FF2B5EF4-FFF2-40B4-BE49-F238E27FC236}">
                <a16:creationId xmlns:a16="http://schemas.microsoft.com/office/drawing/2014/main" id="{A44582D6-E83A-4825-8431-E8033406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Vlad Ciripescu  ·  Research Journal AI  ·  CRONOLOGIE</a:t>
            </a:r>
          </a:p>
        </p:txBody>
      </p:sp>
      <p:sp>
        <p:nvSpPr>
          <p:cNvPr id="23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33BFCA84-A805-4814-93A1-4EA46A6E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8"/>
                </a:solidFill>
              </a:defRPr>
            </a:pPr>
            <a:r>
              <a:rPr sz="1050" b="1">
                <a:solidFill>
                  <a:srgbClr val="10182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560762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kicker-5">
            <a:extLst xmlns:a="http://schemas.openxmlformats.org/drawingml/2006/main">
              <a:ext uri="{FF2B5EF4-FFF2-40B4-BE49-F238E27FC236}">
                <a16:creationId xmlns:a16="http://schemas.microsoft.com/office/drawing/2014/main" id="{65DEFBA0-6FC2-4C15-9361-B8A7B9F9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D2"/>
                </a:solidFill>
              </a:defRPr>
            </a:pPr>
            <a:r>
              <a:rPr sz="1050" b="1">
                <a:solidFill>
                  <a:srgbClr val="1769D2"/>
                </a:solidFill>
              </a:rPr>
              <a:t>ARHITECTURA FINALĂ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8554AC7E-A06D-4675-9169-1FBD2017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Arhitectura separă interfața, logica, AI-ul și datele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6E2ED7-ACA8-46D6-A3FA-E5433258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2686050" y="322897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D2"/>
            </a:solidFill>
            <a:prstDash val="solid"/>
          </a:ln>
        </p:spPr>
      </p:cxnSp>
      <p:cxnSp>
        <p:nvCxnSpPr>
          <p:cNvPr id="33" name=""/>
          <p:cNvCxnSpPr/>
          <p:nvPr/>
        </p:nvCxnSpPr>
        <p:spPr>
          <a:xfrm xmlns:a="http://schemas.openxmlformats.org/drawingml/2006/main">
            <a:off x="5429250" y="322897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D2"/>
            </a:solidFill>
            <a:prstDash val="solid"/>
          </a:ln>
        </p:spPr>
      </p:cxnSp>
      <p:cxnSp>
        <p:nvCxnSpPr>
          <p:cNvPr id="34" name=""/>
          <p:cNvCxnSpPr/>
          <p:nvPr/>
        </p:nvCxnSpPr>
        <p:spPr>
          <a:xfrm xmlns:a="http://schemas.openxmlformats.org/drawingml/2006/main">
            <a:off x="8172450" y="322897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D2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9670FE-307F-438A-B9B6-A52B7AF1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33625"/>
            <a:ext cx="24003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AC1D29-674C-4988-9EE2-71E26D32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D2"/>
                </a:solidFill>
              </a:defRPr>
            </a:pPr>
            <a:r>
              <a:rPr sz="1125" b="1">
                <a:solidFill>
                  <a:srgbClr val="1769D2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CB39A0-551F-4DC9-A862-0DF3FB78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24175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Streamlit UI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E0C3F9-401B-48AD-8412-9E3B10D7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0425"/>
            <a:ext cx="2019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4 pagini principale</a:t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componente reutilizabile</a:t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fragmente cu rerulare locală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5B8084-E362-46AB-BEBB-1B5796C8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33625"/>
            <a:ext cx="24003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AC86AD-DB75-4D32-B544-8F94930A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3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D2"/>
                </a:solidFill>
              </a:defRPr>
            </a:pPr>
            <a:r>
              <a:rPr sz="1125" b="1">
                <a:solidFill>
                  <a:srgbClr val="1769D2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50A11E-3144-4B6F-BACA-1677F178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24175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Servicii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3E3DAB-B1CE-4A49-A6A7-BC72660B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00425"/>
            <a:ext cx="2019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workflow-uri de domeniu</a:t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validare și export</a:t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limite de resurse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9CBC4C-DC8A-4F89-B9C4-61094500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33625"/>
            <a:ext cx="24003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5AA681-84AE-4CFA-A97D-0171C011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3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D2"/>
                </a:solidFill>
              </a:defRPr>
            </a:pPr>
            <a:r>
              <a:rPr sz="1125" b="1">
                <a:solidFill>
                  <a:srgbClr val="1769D2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7726A4-2628-442D-82F8-0BDDBC4A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24175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AI providers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977F77-FE57-48AE-B80E-A895630F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00425"/>
            <a:ext cx="2019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Gemini în producție</a:t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MockProvider în teste</a:t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scheme JSON + grounding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5E923A-D34B-49F0-9CB8-6B24B0C4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33625"/>
            <a:ext cx="24003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213689-A8FF-4232-91A1-E1923D7E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3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D2"/>
                </a:solidFill>
              </a:defRPr>
            </a:pPr>
            <a:r>
              <a:rPr sz="1125" b="1">
                <a:solidFill>
                  <a:srgbClr val="1769D2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558B64-B2F0-42D9-A265-F07209A6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24175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Date &amp; fișiere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64A756-7478-4334-8E1F-4EF7357D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00425"/>
            <a:ext cx="2019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PostgreSQL + RLS</a:t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Supabase Storage</a:t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SQLite fallback local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1244B0-010F-4AC2-BD9E-DEEC078F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0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DE26AA-340F-4046-871A-BB6B9EA7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Principiul de implementare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97E87F-5740-40F7-9CA9-CC5BF984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05777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D57B7"/>
                </a:solidFill>
              </a:defRPr>
            </a:pPr>
            <a:r>
              <a:rPr sz="1500" b="0">
                <a:solidFill>
                  <a:srgbClr val="0D57B7"/>
                </a:solidFill>
              </a:rPr>
              <a:t>Interfața orchestrează; serviciile decid; query layer-ul persistă; provider-ul AI rămâne înlocuibil.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91507E-DCF0-448E-BBE7-B9F8CF79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5435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Același cod rulează cloud-first și păstrează fallback-uri locale pentru testare.</a:t>
            </a:r>
          </a:p>
        </p:txBody>
      </p:sp>
      <p:sp>
        <p:nvSpPr>
          <p:cNvPr id="27" name="footer-5">
            <a:extLst xmlns:a="http://schemas.openxmlformats.org/drawingml/2006/main">
              <a:ext uri="{FF2B5EF4-FFF2-40B4-BE49-F238E27FC236}">
                <a16:creationId xmlns:a16="http://schemas.microsoft.com/office/drawing/2014/main" id="{DF92EE6B-0EE9-4711-87C8-1339F189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Vlad Ciripescu  ·  Research Journal AI  ·  ARHITECTURĂ</a:t>
            </a:r>
          </a:p>
        </p:txBody>
      </p:sp>
      <p:sp>
        <p:nvSpPr>
          <p:cNvPr id="28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0DF5D35E-9EE8-4E80-9FCA-4C262254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8"/>
                </a:solidFill>
              </a:defRPr>
            </a:pPr>
            <a:r>
              <a:rPr sz="1050" b="1">
                <a:solidFill>
                  <a:srgbClr val="101828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341639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6">
            <a:extLst xmlns:a="http://schemas.openxmlformats.org/drawingml/2006/main">
              <a:ext uri="{FF2B5EF4-FFF2-40B4-BE49-F238E27FC236}">
                <a16:creationId xmlns:a16="http://schemas.microsoft.com/office/drawing/2014/main" id="{B7D1ECF6-9BF5-4A7F-A2D5-DBC830ED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D2"/>
                </a:solidFill>
              </a:defRPr>
            </a:pPr>
            <a:r>
              <a:rPr sz="1050" b="1">
                <a:solidFill>
                  <a:srgbClr val="1769D2"/>
                </a:solidFill>
              </a:rPr>
              <a:t>ETAPA 1 · 09–16 IULIE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E00D80B9-8460-467B-9078-DF9F43C3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Experiments păstrează contextul în jurul fiecărui proiect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2575CF-332D-4D93-99F4-B540168F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67F641-1733-410B-BA7A-713867DB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FF4076-979F-4982-B7EE-517323A4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6954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CAPTURARE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DB631B-267F-486E-BFF2-D2ED02F6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D39469-ECC0-4CC1-A299-87E4DDF7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474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Proiecte și experimente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5146E3-CAC5-4C8E-9A27-8B72B952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4743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Ierarhie clară, obiective, metadate și navigare persistentă.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1A16D4-33DD-4614-9722-9B0F8780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33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168EF1-DF6F-4148-A07D-3068D450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474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Note scrise și audio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DDDF3D-D2C3-423D-A51A-0D1B46A7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4743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Observații editabile; înregistrările WAV sunt validate, salvate și transcrise cu Faster Whisper.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8FA8B4-4862-47BF-9184-9D4D321E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81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8A1FFD-1F67-4558-9BC7-FB91706E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14800"/>
            <a:ext cx="474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Chat AI contextual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A27DCC-E236-4BE8-B82C-B3429F83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0075"/>
            <a:ext cx="4743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Răspunsurile folosesc doar notele experimentului sau contextul proiectului selectat.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491C1A-A21A-476D-B1ED-15A0E261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625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</a:defRPr>
            </a:pPr>
            <a:r>
              <a:rPr sz="1275" b="1">
                <a:solidFill>
                  <a:srgbClr val="101828"/>
                </a:solidFill>
              </a:rPr>
              <a:t>Implementare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B4CDD4-6EDF-4550-BA60-DAB7CE3D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3400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Streamlit fragments · query layer · servicii dedicate · istoric AI separat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E560DA-CF48-4561-A581-874FE3AB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00200"/>
            <a:ext cx="57626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73ddbf6ddb4fa5"/>
          <a:stretch xmlns:a="http://schemas.openxmlformats.org/drawingml/2006/main"/>
        </p:blipFill>
        <p:spPr>
          <a:xfrm xmlns:a="http://schemas.openxmlformats.org/drawingml/2006/main">
            <a:off x="5953125" y="2024531"/>
            <a:ext cx="5572125" cy="3485213"/>
          </a:xfrm>
          <a:prstGeom xmlns:a="http://schemas.openxmlformats.org/drawingml/2006/main" prst="rect">
            <a:avLst/>
          </a:prstGeom>
        </p:spPr>
      </p:pic>
      <p:sp>
        <p:nvSpPr>
          <p:cNvPr id="19" name="footer-6">
            <a:extLst xmlns:a="http://schemas.openxmlformats.org/drawingml/2006/main">
              <a:ext uri="{FF2B5EF4-FFF2-40B4-BE49-F238E27FC236}">
                <a16:creationId xmlns:a16="http://schemas.microsoft.com/office/drawing/2014/main" id="{CEB6BFFA-1FD9-48B3-969C-E301DBBF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Vlad Ciripescu  ·  Research Journal AI  ·  ETAPA 1</a:t>
            </a:r>
          </a:p>
        </p:txBody>
      </p:sp>
      <p:sp>
        <p:nvSpPr>
          <p:cNvPr id="20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D4D9AB0C-3705-445F-BAA0-A958ECFA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8"/>
                </a:solidFill>
              </a:defRPr>
            </a:pPr>
            <a:r>
              <a:rPr sz="1050" b="1">
                <a:solidFill>
                  <a:srgbClr val="101828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002259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7">
            <a:extLst xmlns:a="http://schemas.openxmlformats.org/drawingml/2006/main">
              <a:ext uri="{FF2B5EF4-FFF2-40B4-BE49-F238E27FC236}">
                <a16:creationId xmlns:a16="http://schemas.microsoft.com/office/drawing/2014/main" id="{BB4BBD63-1743-4F22-BAEC-4043CBB5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D2"/>
                </a:solidFill>
              </a:defRPr>
            </a:pPr>
            <a:r>
              <a:rPr sz="1050" b="1">
                <a:solidFill>
                  <a:srgbClr val="1769D2"/>
                </a:solidFill>
              </a:rPr>
              <a:t>ETAPA 2 · 16 IULIE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5BD988F7-FCFB-48AD-8600-FB9ABBA4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Insights transformă observațiile în cunoaștere editabilă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0C6C89-162B-4878-B6B0-D55AA6D5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D77BE8-A54E-4C28-B1F2-AEC7688E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5953125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19d635091443f0"/>
          <a:stretch xmlns:a="http://schemas.openxmlformats.org/drawingml/2006/main"/>
        </p:blipFill>
        <p:spPr>
          <a:xfrm xmlns:a="http://schemas.openxmlformats.org/drawingml/2006/main">
            <a:off x="552450" y="1979242"/>
            <a:ext cx="5762625" cy="360436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B61F5-A045-4879-A7CF-91A24DB0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573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DACC36-DD7D-481F-B50F-6933ABA1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6954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SINTEZĂ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412E62-4124-4E14-8767-4C72FE3E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19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4C4606-8B16-4EBA-B46E-337E1B21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152650"/>
            <a:ext cx="445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Rezumate pe două niveluri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681238-CEC7-4933-A6B5-D1994CD3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47925"/>
            <a:ext cx="4457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Rezumat per experiment sau per proiect, cu structuri standard ori prompt personalizat.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7CC1D7-4914-4693-B510-BB991355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90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BB6655-5125-45D5-BFA6-1DD8654E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24200"/>
            <a:ext cx="445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Idei-cheie editabile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5BA7DF-3112-477D-8A2D-625346D3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19475"/>
            <a:ext cx="4457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AI extrage titlu, descriere, dovezi și importanță; utilizatorul păstrează controlul final.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2BD8A0-C450-456C-A1FD-C6BBB9FD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76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09AB4D-6F5B-4252-A4FD-A79581A3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210050"/>
            <a:ext cx="445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Mind map incremental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3E7734-D70F-44DD-880F-09A24919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505325"/>
            <a:ext cx="4457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Sursele noi sunt detectate prin semnături și fuzionate fără a regenera inutil întregul graf.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974052-50C7-4154-A629-A36D8F00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1020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57B7"/>
                </a:solidFill>
              </a:defRPr>
            </a:pPr>
            <a:r>
              <a:rPr sz="1350" b="1">
                <a:solidFill>
                  <a:srgbClr val="0D57B7"/>
                </a:solidFill>
              </a:rPr>
              <a:t>Rezultatul nu este un rezumat static, ci o memorie de proiect care poate fi corectată și reutilizată.</a:t>
            </a:r>
          </a:p>
        </p:txBody>
      </p:sp>
      <p:sp>
        <p:nvSpPr>
          <p:cNvPr id="18" name="footer-7">
            <a:extLst xmlns:a="http://schemas.openxmlformats.org/drawingml/2006/main">
              <a:ext uri="{FF2B5EF4-FFF2-40B4-BE49-F238E27FC236}">
                <a16:creationId xmlns:a16="http://schemas.microsoft.com/office/drawing/2014/main" id="{6BE81AAE-CFBB-43C2-85CB-C504A55D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Vlad Ciripescu  ·  Research Journal AI  ·  ETAPA 2</a:t>
            </a:r>
          </a:p>
        </p:txBody>
      </p:sp>
      <p:sp>
        <p:nvSpPr>
          <p:cNvPr id="19" name="slide-number-7">
            <a:extLst xmlns:a="http://schemas.openxmlformats.org/drawingml/2006/main">
              <a:ext uri="{FF2B5EF4-FFF2-40B4-BE49-F238E27FC236}">
                <a16:creationId xmlns:a16="http://schemas.microsoft.com/office/drawing/2014/main" id="{F1272A88-407D-49C3-AAA4-8CE52A99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8"/>
                </a:solidFill>
              </a:defRPr>
            </a:pPr>
            <a:r>
              <a:rPr sz="1050" b="1">
                <a:solidFill>
                  <a:srgbClr val="101828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307985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-8">
            <a:extLst xmlns:a="http://schemas.openxmlformats.org/drawingml/2006/main">
              <a:ext uri="{FF2B5EF4-FFF2-40B4-BE49-F238E27FC236}">
                <a16:creationId xmlns:a16="http://schemas.microsoft.com/office/drawing/2014/main" id="{37B45CC0-C1F2-4981-885C-CA4282E8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D2"/>
                </a:solidFill>
              </a:defRPr>
            </a:pPr>
            <a:r>
              <a:rPr sz="1050" b="1">
                <a:solidFill>
                  <a:srgbClr val="1769D2"/>
                </a:solidFill>
              </a:rPr>
              <a:t>ETAPA 3 · 21 IULIE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B87C09E7-AB7A-42A6-9A89-CBABA0CA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Library centralizează literatura și artefactele cercetării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28695D-3A34-4EE5-A575-29C34CE7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DECC36-1671-4F38-B1C7-C281FB12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0844F-8A3C-4BD9-B3F5-A8B81698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6954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ORGANIZARE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7591C-5821-43AF-86DD-D208F6F9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3E71D2-4C84-404B-BFE5-0133ACA4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4505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Colecții și metadate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22A93D-9E7C-4802-9B93-FF335579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4505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Foldere ierarhice, tipuri de item, status de lectură, autori, DOI, taguri și proiecte asociate.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2A11EA-F961-4828-820D-F218F97B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24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46E961-4289-4890-8142-3A8091D4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4505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Upload controlat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2252DB-2B75-41CC-A662-79A0307A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52825"/>
            <a:ext cx="4505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PDF, documente, dataseturi și audio; extensii, dimensiuni, batch-uri și căi sunt validate înainte de stocare.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C03A8D-B0E0-456C-89E8-894EC03A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67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E995B3-C6AB-494B-AC8B-36FA8886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4505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Operații 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A50177-C12D-4CF2-840C-B2D3FF8B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95825"/>
            <a:ext cx="4505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Filtrare, sortare, paginare, mutare în lot, descărcare și prevenirea duplicatelor prin identificatori normalizați.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AB88AD-FAA9-4A74-93DC-326323EB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600200"/>
            <a:ext cx="611505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1f94d2e8ad452e"/>
          <a:stretch xmlns:a="http://schemas.openxmlformats.org/drawingml/2006/main"/>
        </p:blipFill>
        <p:spPr>
          <a:xfrm xmlns:a="http://schemas.openxmlformats.org/drawingml/2006/main">
            <a:off x="5600700" y="1928602"/>
            <a:ext cx="5924550" cy="3705645"/>
          </a:xfrm>
          <a:prstGeom xmlns:a="http://schemas.openxmlformats.org/drawingml/2006/main" prst="rect">
            <a:avLst/>
          </a:prstGeom>
        </p:spPr>
      </p:pic>
      <p:sp>
        <p:nvSpPr>
          <p:cNvPr id="17" name="footer-8">
            <a:extLst xmlns:a="http://schemas.openxmlformats.org/drawingml/2006/main">
              <a:ext uri="{FF2B5EF4-FFF2-40B4-BE49-F238E27FC236}">
                <a16:creationId xmlns:a16="http://schemas.microsoft.com/office/drawing/2014/main" id="{15838DDB-A404-4970-9A42-E524A8A0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Vlad Ciripescu  ·  Research Journal AI  ·  ETAPA 3</a:t>
            </a:r>
          </a:p>
        </p:txBody>
      </p:sp>
      <p:sp>
        <p:nvSpPr>
          <p:cNvPr id="18" name="slide-number-8">
            <a:extLst xmlns:a="http://schemas.openxmlformats.org/drawingml/2006/main">
              <a:ext uri="{FF2B5EF4-FFF2-40B4-BE49-F238E27FC236}">
                <a16:creationId xmlns:a16="http://schemas.microsoft.com/office/drawing/2014/main" id="{C7B5BCC8-A123-4C46-9B80-D9A8B513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8"/>
                </a:solidFill>
              </a:defRPr>
            </a:pPr>
            <a:r>
              <a:rPr sz="1050" b="1">
                <a:solidFill>
                  <a:srgbClr val="101828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771992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-9">
            <a:extLst xmlns:a="http://schemas.openxmlformats.org/drawingml/2006/main">
              <a:ext uri="{FF2B5EF4-FFF2-40B4-BE49-F238E27FC236}">
                <a16:creationId xmlns:a16="http://schemas.microsoft.com/office/drawing/2014/main" id="{804813C0-46D8-4CFE-80DD-A77EF324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D2"/>
                </a:solidFill>
              </a:defRPr>
            </a:pPr>
            <a:r>
              <a:rPr sz="1050" b="1">
                <a:solidFill>
                  <a:srgbClr val="1769D2"/>
                </a:solidFill>
              </a:rPr>
              <a:t>ETAPA 3 · 21 IULIE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12C1A7B6-EA55-4E71-BDE0-F41B42E8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Discovery combină căutarea și ranking-ul explicabil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36EF8-4A2F-4856-84D4-C6D0656F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F58F1-AEEF-4E0D-A0BB-089DED5E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28650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2dae69f10b4720"/>
          <a:stretch xmlns:a="http://schemas.openxmlformats.org/drawingml/2006/main"/>
        </p:blipFill>
        <p:spPr>
          <a:xfrm xmlns:a="http://schemas.openxmlformats.org/drawingml/2006/main">
            <a:off x="552450" y="1874984"/>
            <a:ext cx="6096000" cy="381288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77AA47-9D18-477C-88D0-3948CB8E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573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09142-8481-4D47-A365-8B83257E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6954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DESCOPERIRE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B76234-0679-476F-98A8-7BB02418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19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9602E8-06B7-4748-AC14-84AD150D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52650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Profil de căutare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497DE3-6088-4EB6-9F7D-88DB9E47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47925"/>
            <a:ext cx="413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Tema proiectului, cuvintele-cheie și ideile salvate generează interogări multiple, dar editabile.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1054FC-A274-4815-B4E9-1157A13F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86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582CDA-97DD-4104-A3A2-AB16A23F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219450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Ranking hibrid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A5FCCE-C1D2-493F-B7D8-1C2F100E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514725"/>
            <a:ext cx="413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TF–IDF, acoperirea interogărilor, ideile-cheie, citările, recența și open access formează scorul de bază; AI îl îmbogățește.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3F1794-9E43-49CB-85AC-CB5791C7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19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97D380-30E0-4F40-878B-5660ABE4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552950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Fallback și trasabilitate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54FBD3-2BAA-451D-82CE-96A7BD49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848225"/>
            <a:ext cx="413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Dacă un batch AI eșuează, ranking-ul calculat rămâne valid; seturile și contextul căutării sunt persistate.</a:t>
            </a:r>
          </a:p>
        </p:txBody>
      </p:sp>
      <p:sp>
        <p:nvSpPr>
          <p:cNvPr id="17" name="footer-9">
            <a:extLst xmlns:a="http://schemas.openxmlformats.org/drawingml/2006/main">
              <a:ext uri="{FF2B5EF4-FFF2-40B4-BE49-F238E27FC236}">
                <a16:creationId xmlns:a16="http://schemas.microsoft.com/office/drawing/2014/main" id="{808B55E5-99D9-4218-AB46-F40A26FC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Vlad Ciripescu  ·  Research Journal AI  ·  ETAPA 3</a:t>
            </a:r>
          </a:p>
        </p:txBody>
      </p:sp>
      <p:sp>
        <p:nvSpPr>
          <p:cNvPr id="18" name="slide-number-9">
            <a:extLst xmlns:a="http://schemas.openxmlformats.org/drawingml/2006/main">
              <a:ext uri="{FF2B5EF4-FFF2-40B4-BE49-F238E27FC236}">
                <a16:creationId xmlns:a16="http://schemas.microsoft.com/office/drawing/2014/main" id="{80F8CAB9-BA9E-4D7F-828A-568E4002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8"/>
                </a:solidFill>
              </a:defRPr>
            </a:pPr>
            <a:r>
              <a:rPr sz="1050" b="1">
                <a:solidFill>
                  <a:srgbClr val="101828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350656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10">
            <a:extLst xmlns:a="http://schemas.openxmlformats.org/drawingml/2006/main">
              <a:ext uri="{FF2B5EF4-FFF2-40B4-BE49-F238E27FC236}">
                <a16:creationId xmlns:a16="http://schemas.microsoft.com/office/drawing/2014/main" id="{9B1405E2-5ECA-4A24-990B-0025ED18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D2"/>
                </a:solidFill>
              </a:defRPr>
            </a:pPr>
            <a:r>
              <a:rPr sz="1050" b="1">
                <a:solidFill>
                  <a:srgbClr val="1769D2"/>
                </a:solidFill>
              </a:rPr>
              <a:t>ETAPA 4 · 21–23 IULIE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C2D4D704-8830-4018-B5EC-4BF2A74C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Paper Writing leagă textul de surse și versiuni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D72717-5B16-4DF2-B004-3A92349C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93A201-B10B-46AB-9E69-746C09EF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7D517-657D-480A-8C9B-D0E9C4B6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6954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REDACTARE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535CF4-BBC4-4967-9533-1EF2D92B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19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19D51-2043-4150-95E9-7B4DC02B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Manuscris structurat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BBEF77-0923-4B09-99E3-F83E2E85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47925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Outline științific, editor Markdown cu toolbar, autosave și obiecte numerotate: figuri, tabele și ecuații.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16DF19-5CA9-4CEE-B2F4-99826E86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2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9260AE-001B-48AB-B309-65E70009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Dovezi și asistent 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81F608-5FF8-4E35-953F-4E01C714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90925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Sursele Library și evidențele proiectului intră explicit în contextul fiecărei sugestii.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8441DA-C742-4922-B7F5-90BF9F41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91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2BEA7A-D2C7-4C6F-8DA0-BF414324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Control editorial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E38CFE-C4C6-4A06-A290-10CBFB77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Citări APA/Vancouver, verificări de readiness, snapshot-uri, diff, restaurare granulară și comentarii.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2133EC-B366-47A5-A53A-49F7F73F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433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D57B7"/>
                </a:solidFill>
              </a:defRPr>
            </a:pPr>
            <a:r>
              <a:rPr sz="1425" b="1">
                <a:solidFill>
                  <a:srgbClr val="0D57B7"/>
                </a:solidFill>
              </a:rPr>
              <a:t>Exporturi: Markdown · DOCX · PDF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D53F42-8FEE-4B37-B43A-D23DFD63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00200"/>
            <a:ext cx="609600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6cd30dc97e4f1d"/>
          <a:stretch xmlns:a="http://schemas.openxmlformats.org/drawingml/2006/main"/>
        </p:blipFill>
        <p:spPr>
          <a:xfrm xmlns:a="http://schemas.openxmlformats.org/drawingml/2006/main">
            <a:off x="5619750" y="1934560"/>
            <a:ext cx="5905500" cy="3693730"/>
          </a:xfrm>
          <a:prstGeom xmlns:a="http://schemas.openxmlformats.org/drawingml/2006/main" prst="rect">
            <a:avLst/>
          </a:prstGeom>
        </p:spPr>
      </p:pic>
      <p:sp>
        <p:nvSpPr>
          <p:cNvPr id="18" name="footer-10">
            <a:extLst xmlns:a="http://schemas.openxmlformats.org/drawingml/2006/main">
              <a:ext uri="{FF2B5EF4-FFF2-40B4-BE49-F238E27FC236}">
                <a16:creationId xmlns:a16="http://schemas.microsoft.com/office/drawing/2014/main" id="{A82FC338-E753-4A9D-AC85-DEF5DED3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Vlad Ciripescu  ·  Research Journal AI  ·  ETAPA 4</a:t>
            </a:r>
          </a:p>
        </p:txBody>
      </p:sp>
      <p:sp>
        <p:nvSpPr>
          <p:cNvPr id="19" name="slide-number-10">
            <a:extLst xmlns:a="http://schemas.openxmlformats.org/drawingml/2006/main">
              <a:ext uri="{FF2B5EF4-FFF2-40B4-BE49-F238E27FC236}">
                <a16:creationId xmlns:a16="http://schemas.microsoft.com/office/drawing/2014/main" id="{653DBD90-FDC0-4AC9-8E09-422D1E0E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8"/>
                </a:solidFill>
              </a:defRPr>
            </a:pPr>
            <a:r>
              <a:rPr sz="1050" b="1">
                <a:solidFill>
                  <a:srgbClr val="101828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833464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11">
            <a:extLst xmlns:a="http://schemas.openxmlformats.org/drawingml/2006/main">
              <a:ext uri="{FF2B5EF4-FFF2-40B4-BE49-F238E27FC236}">
                <a16:creationId xmlns:a16="http://schemas.microsoft.com/office/drawing/2014/main" id="{AB24BB24-D0EF-4088-A9E2-83528F72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D2"/>
                </a:solidFill>
              </a:defRPr>
            </a:pPr>
            <a:r>
              <a:rPr sz="1050" b="1">
                <a:solidFill>
                  <a:srgbClr val="1769D2"/>
                </a:solidFill>
              </a:rPr>
              <a:t>ETAPA 5 · 03 AUGUST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5F80A35F-4F83-4F4C-B2E1-772F19D1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Data Analysis face fluxurile ML reproductibile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AAFFA-D964-4988-9C4C-D269D253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6FF8C7-A7BA-4620-917E-C89F5741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38175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9aea6d7c904291"/>
          <a:stretch xmlns:a="http://schemas.openxmlformats.org/drawingml/2006/main"/>
        </p:blipFill>
        <p:spPr>
          <a:xfrm xmlns:a="http://schemas.openxmlformats.org/drawingml/2006/main">
            <a:off x="552450" y="1845195"/>
            <a:ext cx="6191250" cy="387245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AED723-B2C2-4A1E-BDD6-07B95467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573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02CB19-DEA5-4434-AC44-C297BA1F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6954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ANALIZĂ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92AE3C-DD09-44C2-96C4-DF8329D3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19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F2D647-B696-4C22-8CA3-4AD01E22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5265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Ingestie și profilare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1DD51A-B47C-460A-85C6-E8642E5C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47925"/>
            <a:ext cx="4038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CSV, TSV, XLSX și JSON; verificări de dimensiune, coloane, valori lipsă, duplicate și tipuri.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AC1FB5-481D-4C84-BE37-CC303280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24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924383-23E0-4D96-A1FB-FF3A8293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25755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Pipeline scikit-learn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4C9A9F-01AC-4BD7-B082-F2A1EB82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552825"/>
            <a:ext cx="4038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5 obiective, 10 algoritmi, imputare, scalare, encoding și seed determinist 42.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132D0B-A2F6-4552-BAE4-12FCD308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29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68B905-4B03-4BFE-901B-F04D8575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36245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Rezultate persistente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198C2E-4E35-4703-9422-9479CE10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657725"/>
            <a:ext cx="4038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Metrici și grafice specifice, predicții, istoric de rulări și artefacte private: CSV + raport Markdown.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80403C-62C6-4CE3-B6F0-AA079311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6260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57B7"/>
                </a:solidFill>
              </a:defRPr>
            </a:pPr>
            <a:r>
              <a:rPr sz="1350" b="1">
                <a:solidFill>
                  <a:srgbClr val="0D57B7"/>
                </a:solidFill>
              </a:rPr>
              <a:t>Fiecare rulare salvează configurația necesară pentru reproducere.</a:t>
            </a:r>
          </a:p>
        </p:txBody>
      </p:sp>
      <p:sp>
        <p:nvSpPr>
          <p:cNvPr id="18" name="footer-11">
            <a:extLst xmlns:a="http://schemas.openxmlformats.org/drawingml/2006/main">
              <a:ext uri="{FF2B5EF4-FFF2-40B4-BE49-F238E27FC236}">
                <a16:creationId xmlns:a16="http://schemas.microsoft.com/office/drawing/2014/main" id="{646C447F-C8FC-4F8B-BF01-24C369D2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Vlad Ciripescu  ·  Research Journal AI  ·  ETAPA 5</a:t>
            </a:r>
          </a:p>
        </p:txBody>
      </p:sp>
      <p:sp>
        <p:nvSpPr>
          <p:cNvPr id="19" name="slide-number-11">
            <a:extLst xmlns:a="http://schemas.openxmlformats.org/drawingml/2006/main">
              <a:ext uri="{FF2B5EF4-FFF2-40B4-BE49-F238E27FC236}">
                <a16:creationId xmlns:a16="http://schemas.microsoft.com/office/drawing/2014/main" id="{85C58E58-65B3-44E1-A7BA-F951A6B9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8"/>
                </a:solidFill>
              </a:defRPr>
            </a:pPr>
            <a:r>
              <a:rPr sz="1050" b="1">
                <a:solidFill>
                  <a:srgbClr val="101828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898966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-12">
            <a:extLst xmlns:a="http://schemas.openxmlformats.org/drawingml/2006/main">
              <a:ext uri="{FF2B5EF4-FFF2-40B4-BE49-F238E27FC236}">
                <a16:creationId xmlns:a16="http://schemas.microsoft.com/office/drawing/2014/main" id="{69F4AA20-C79F-49A5-B375-DD61F37D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D2"/>
                </a:solidFill>
              </a:defRPr>
            </a:pPr>
            <a:r>
              <a:rPr sz="1050" b="1">
                <a:solidFill>
                  <a:srgbClr val="1769D2"/>
                </a:solidFill>
              </a:rPr>
              <a:t>ETAPA 6 · 29 IULIE–06 AUGUST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2DC33B2C-7761-45DB-BF92-BE2B86F3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Cloud-ul a fost construit în jurul izolării datelor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7FBA3-2D02-4375-BA0F-F8A918C2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3105150" y="2990850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D2"/>
            </a:solidFill>
            <a:prstDash val="solid"/>
          </a:ln>
        </p:spPr>
      </p:cxnSp>
      <p:cxnSp>
        <p:nvCxnSpPr>
          <p:cNvPr id="28" name=""/>
          <p:cNvCxnSpPr/>
          <p:nvPr/>
        </p:nvCxnSpPr>
        <p:spPr>
          <a:xfrm xmlns:a="http://schemas.openxmlformats.org/drawingml/2006/main">
            <a:off x="7067550" y="2990850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D2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21FED8-7B51-4FE4-B901-19A3BCA2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26479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B4EB2-B8BE-40FA-9C00-5A257A1C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Auth0 / OIDC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B7EFB4-9143-484D-BA50-B39F5DA5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81325"/>
            <a:ext cx="2228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iss + sub verificate</a:t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rol authenticated</a:t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sesiune Streamlit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FED937-C838-4BEA-9FFC-F355F8E2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095500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0559BE-379C-4657-85BD-74087AFC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09825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Aplicația Streamlit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DA794D-7423-4CDD-8205-16B88324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81325"/>
            <a:ext cx="2628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scope privat per utilizator</a:t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servicii + query layer</a:t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ID token server-side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FB2F5A-D471-4518-9C7A-36450CD7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37528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57D2C6-30CD-43E1-AFCE-ABF8F3A5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098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Supabase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5F1591-453B-42E4-9464-C45097F5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81325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PostgreSQL + RLS forțat</a:t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Storage privat în users/&lt;uuid&gt;/…</a:t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ștergere completă workspace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12F075-6C1A-46F8-AF8C-29C29346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366742-DDC6-4418-ACB8-2D33F7FE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57B7"/>
                </a:solidFill>
              </a:defRPr>
            </a:pPr>
            <a:r>
              <a:rPr sz="1500" b="1">
                <a:solidFill>
                  <a:srgbClr val="0D57B7"/>
                </a:solidFill>
              </a:rPr>
              <a:t>RLS + prefix privat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E72B4D-7BB6-407B-BAA2-A83DA42B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Aceeași identitate controlează rândurile și obiectele Storage.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333DAA-1452-4974-AFC3-13C88DCF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762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57B7"/>
                </a:solidFill>
              </a:defRPr>
            </a:pPr>
            <a:r>
              <a:rPr sz="1500" b="1">
                <a:solidFill>
                  <a:srgbClr val="0D57B7"/>
                </a:solidFill>
              </a:rPr>
              <a:t>Rate &amp; concurrency limits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4454BF-B226-4609-979B-F6B6B1BD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1435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Cote pentru Gemini, OpenAlex, transcriere și spațiu.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CAEF6A-A6E1-4CA5-A6B0-92EC276E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62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57B7"/>
                </a:solidFill>
              </a:defRPr>
            </a:pPr>
            <a:r>
              <a:rPr sz="1500" b="1">
                <a:solidFill>
                  <a:srgbClr val="0D57B7"/>
                </a:solidFill>
              </a:rPr>
              <a:t>Cache + pipeline DB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94DBD9-641A-4D2B-BEF6-069CC8EC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435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Invalidare selectivă, conexiuni reutilizate și mai puține round-trip-uri.</a:t>
            </a:r>
          </a:p>
        </p:txBody>
      </p:sp>
      <p:sp>
        <p:nvSpPr>
          <p:cNvPr id="22" name="footer-12">
            <a:extLst xmlns:a="http://schemas.openxmlformats.org/drawingml/2006/main">
              <a:ext uri="{FF2B5EF4-FFF2-40B4-BE49-F238E27FC236}">
                <a16:creationId xmlns:a16="http://schemas.microsoft.com/office/drawing/2014/main" id="{2DC8E1DD-981D-4070-AB2C-EFC5F759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Vlad Ciripescu  ·  Research Journal AI  ·  ETAPA 6</a:t>
            </a:r>
          </a:p>
        </p:txBody>
      </p:sp>
      <p:sp>
        <p:nvSpPr>
          <p:cNvPr id="23" name="slide-number-12">
            <a:extLst xmlns:a="http://schemas.openxmlformats.org/drawingml/2006/main">
              <a:ext uri="{FF2B5EF4-FFF2-40B4-BE49-F238E27FC236}">
                <a16:creationId xmlns:a16="http://schemas.microsoft.com/office/drawing/2014/main" id="{6C33F674-895A-4D2D-94FF-B7374464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8"/>
                </a:solidFill>
              </a:defRPr>
            </a:pPr>
            <a:r>
              <a:rPr sz="1050" b="1">
                <a:solidFill>
                  <a:srgbClr val="101828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31396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-13">
            <a:extLst xmlns:a="http://schemas.openxmlformats.org/drawingml/2006/main">
              <a:ext uri="{FF2B5EF4-FFF2-40B4-BE49-F238E27FC236}">
                <a16:creationId xmlns:a16="http://schemas.microsoft.com/office/drawing/2014/main" id="{CF1F04D3-1828-4E73-AD09-A69D3F3B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D2"/>
                </a:solidFill>
              </a:defRPr>
            </a:pPr>
            <a:r>
              <a:rPr sz="1050" b="1">
                <a:solidFill>
                  <a:srgbClr val="1769D2"/>
                </a:solidFill>
              </a:rPr>
              <a:t>ETAPA 7 · 19 AUGUST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D5CBF252-A1AC-4367-940B-B395F38E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</a:defRPr>
            </a:pPr>
            <a:r>
              <a:rPr sz="3000" b="1">
                <a:solidFill>
                  <a:srgbClr val="101828"/>
                </a:solidFill>
              </a:rPr>
              <a:t>Research Cases recuperează experimente din literatură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C99CF5-A246-4EA3-993F-E46EAAF6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2152650" y="314325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D2"/>
            </a:solidFill>
            <a:prstDash val="solid"/>
          </a:ln>
        </p:spPr>
      </p:cxnSp>
      <p:cxnSp>
        <p:nvCxnSpPr>
          <p:cNvPr id="37" name=""/>
          <p:cNvCxnSpPr/>
          <p:nvPr/>
        </p:nvCxnSpPr>
        <p:spPr>
          <a:xfrm xmlns:a="http://schemas.openxmlformats.org/drawingml/2006/main">
            <a:off x="4381500" y="314325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D2"/>
            </a:solidFill>
            <a:prstDash val="solid"/>
          </a:ln>
        </p:spPr>
      </p:cxnSp>
      <p:cxnSp>
        <p:nvCxnSpPr>
          <p:cNvPr id="38" name=""/>
          <p:cNvCxnSpPr/>
          <p:nvPr/>
        </p:nvCxnSpPr>
        <p:spPr>
          <a:xfrm xmlns:a="http://schemas.openxmlformats.org/drawingml/2006/main">
            <a:off x="6610350" y="314325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D2"/>
            </a:solidFill>
            <a:prstDash val="solid"/>
          </a:ln>
        </p:spPr>
      </p:cxnSp>
      <p:cxnSp>
        <p:nvCxnSpPr>
          <p:cNvPr id="39" name=""/>
          <p:cNvCxnSpPr/>
          <p:nvPr/>
        </p:nvCxnSpPr>
        <p:spPr>
          <a:xfrm xmlns:a="http://schemas.openxmlformats.org/drawingml/2006/main">
            <a:off x="8839200" y="314325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D2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5CBEA0-B15B-46D4-A29C-28BFB20D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33625"/>
            <a:ext cx="16954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9CCDD0-B6DE-4A9E-AB73-5D35CD3F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D2"/>
                </a:solidFill>
              </a:defRPr>
            </a:pPr>
            <a:r>
              <a:rPr sz="1050" b="1">
                <a:solidFill>
                  <a:srgbClr val="1769D2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A09C6C-99F2-49DB-BF75-85F22F92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Articol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AEB186-C529-4F1F-B039-3B264029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139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PDF sau abstract</a:t>
            </a:r>
          </a:p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cu metadate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4B00A3-0BDA-4566-AA80-0FA8E783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33625"/>
            <a:ext cx="16954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4C5136-91E1-49BC-B83A-05820C86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D2"/>
                </a:solidFill>
              </a:defRPr>
            </a:pPr>
            <a:r>
              <a:rPr sz="1050" b="1">
                <a:solidFill>
                  <a:srgbClr val="1769D2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3B6F61-D715-4130-9872-FB6AFC18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9146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Research Case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DC289B-B5FD-4C6F-90B8-0F5DA319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62325"/>
            <a:ext cx="139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JSON standardizat</a:t>
            </a:r>
          </a:p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+ trasabilitate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4E4BCF-1E7C-45B7-8A17-314007A8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33625"/>
            <a:ext cx="16954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12F623-3B26-4989-8ACE-669C1B79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14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D2"/>
                </a:solidFill>
              </a:defRPr>
            </a:pPr>
            <a:r>
              <a:rPr sz="1050" b="1">
                <a:solidFill>
                  <a:srgbClr val="1769D2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ACEE6F-F117-40C1-8E7C-2FACF543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146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Embedding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BBE439-AFB0-4530-8D50-ACD9DA9F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362325"/>
            <a:ext cx="139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Reprezentare</a:t>
            </a:r>
          </a:p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semantică persistentă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13D6B3-E0D1-4347-BB19-4CAFD260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33625"/>
            <a:ext cx="16954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7E6932-C91E-40FE-BD9C-EF77C597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14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D2"/>
                </a:solidFill>
              </a:defRPr>
            </a:pPr>
            <a:r>
              <a:rPr sz="1050" b="1">
                <a:solidFill>
                  <a:srgbClr val="1769D2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B1D940-54A6-4415-8C3B-23C52F12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146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Retrieval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C27D26-3FB7-4B26-A853-7EFD9CB2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62325"/>
            <a:ext cx="139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Cosine similarity</a:t>
            </a:r>
          </a:p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și top-k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875957-C2BB-4596-AF64-49D9C27E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33625"/>
            <a:ext cx="16954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9B702F-CEBA-46A5-8AE3-9813D633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14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D2"/>
                </a:solidFill>
              </a:defRPr>
            </a:pPr>
            <a:r>
              <a:rPr sz="1050" b="1">
                <a:solidFill>
                  <a:srgbClr val="1769D2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7F1022-6021-4EAB-A01F-E921B807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146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Taxonomie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421CC3-45F7-4FB2-B3FE-1F60B11D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62325"/>
            <a:ext cx="139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Strategii grupate</a:t>
            </a:r>
          </a:p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independent de domeniu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E29222-D11F-4694-87A0-43C61730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11277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7900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DC1501-39AF-46F5-9975-15012747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910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54708"/>
                </a:solidFill>
              </a:defRPr>
            </a:pPr>
            <a:r>
              <a:rPr sz="1500" b="1">
                <a:solidFill>
                  <a:srgbClr val="B54708"/>
                </a:solidFill>
              </a:rPr>
              <a:t>Limită intenționată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7DA1EF-E52C-453B-9BCA-2EB8305F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743450"/>
            <a:ext cx="847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Sistemul nu inventează un experiment nou și nu afirmă că o strategie recuperată este automat potrivită. Afișează exemple din surse, frecvența și similaritatea, iar cercetătorul decide.</a:t>
            </a:r>
          </a:p>
        </p:txBody>
      </p:sp>
      <p:sp>
        <p:nvSpPr>
          <p:cNvPr id="31" name="footer-13">
            <a:extLst xmlns:a="http://schemas.openxmlformats.org/drawingml/2006/main">
              <a:ext uri="{FF2B5EF4-FFF2-40B4-BE49-F238E27FC236}">
                <a16:creationId xmlns:a16="http://schemas.microsoft.com/office/drawing/2014/main" id="{203C63EB-7E4D-4051-8648-83C6FFA6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Vlad Ciripescu  ·  Research Journal AI  ·  ETAPA 7</a:t>
            </a:r>
          </a:p>
        </p:txBody>
      </p:sp>
      <p:sp>
        <p:nvSpPr>
          <p:cNvPr id="32" name="slide-number-13">
            <a:extLst xmlns:a="http://schemas.openxmlformats.org/drawingml/2006/main">
              <a:ext uri="{FF2B5EF4-FFF2-40B4-BE49-F238E27FC236}">
                <a16:creationId xmlns:a16="http://schemas.microsoft.com/office/drawing/2014/main" id="{735FBE2D-2152-4F57-ADB7-A010DA93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8"/>
                </a:solidFill>
              </a:defRPr>
            </a:pPr>
            <a:r>
              <a:rPr sz="1050" b="1">
                <a:solidFill>
                  <a:srgbClr val="101828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256878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-14">
            <a:extLst xmlns:a="http://schemas.openxmlformats.org/drawingml/2006/main">
              <a:ext uri="{FF2B5EF4-FFF2-40B4-BE49-F238E27FC236}">
                <a16:creationId xmlns:a16="http://schemas.microsoft.com/office/drawing/2014/main" id="{4BBA7E34-3AA8-4EF4-85B6-CEC2A8E4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D2"/>
                </a:solidFill>
              </a:defRPr>
            </a:pPr>
            <a:r>
              <a:rPr sz="1050" b="1">
                <a:solidFill>
                  <a:srgbClr val="1769D2"/>
                </a:solidFill>
              </a:rPr>
              <a:t>DOVEZI DE INGINERIE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03D3C457-C43E-4D40-893E-E1081FAB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Calitatea este verificabilă în repository și teste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B5F4E-B2E2-4F91-ACEE-79E8FB97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0855AC-E1D6-4318-B274-04817EC2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828"/>
                </a:solidFill>
              </a:defRPr>
            </a:pPr>
            <a:r>
              <a:rPr sz="3450" b="1">
                <a:solidFill>
                  <a:srgbClr val="101828"/>
                </a:solidFill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97C743-5980-4EE8-869B-75279E5F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1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commit-uri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993ECE-0858-43E3-A261-125DBAE8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31 fără merge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DD9AE0-8BCC-4F2A-9F94-403303FC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00250"/>
            <a:ext cx="9525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B6A486-93D4-47B7-9496-985788EA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574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828"/>
                </a:solidFill>
              </a:defRPr>
            </a:pPr>
            <a:r>
              <a:rPr sz="3450" b="1">
                <a:solidFill>
                  <a:srgbClr val="101828"/>
                </a:solidFill>
              </a:rPr>
              <a:t>65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EADAE6-00E1-4970-AB42-CABEB745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81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fișiere Python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31602B-2819-41B4-A2CD-29445079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38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aplicație + teste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AC0CC9-ECFD-4D4E-86DD-AC4825F8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000250"/>
            <a:ext cx="9525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39408D-C98E-4EA6-B27F-469F12B1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574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828"/>
                </a:solidFill>
              </a:defRPr>
            </a:pPr>
            <a:r>
              <a:rPr sz="3450" b="1">
                <a:solidFill>
                  <a:srgbClr val="101828"/>
                </a:solidFill>
              </a:rPr>
              <a:t>30.673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19BD57-FF75-489C-9446-D38517B6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linii Python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D5E122-CFF0-4C5A-9861-AA3FAE29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38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cod funcțional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BB2C79-7218-4A99-B8D5-0CA55019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00250"/>
            <a:ext cx="9525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CD2B8A-2B79-4FAD-B776-3485A470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574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69D2"/>
                </a:solidFill>
              </a:defRPr>
            </a:pPr>
            <a:r>
              <a:rPr sz="3450" b="1">
                <a:solidFill>
                  <a:srgbClr val="1769D2"/>
                </a:solidFill>
              </a:rPr>
              <a:t>86 / 86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6FCB4F-B0D2-4687-9D02-1D4EE83C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81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teste trecute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924756-DBE8-43C7-9877-FBE05DED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38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rulare completă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8451C4-5B1A-49F7-824F-85BCC9F0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290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2325C0-956E-49DB-B380-68CFA39A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D57B7"/>
                </a:solidFill>
              </a:defRPr>
            </a:pPr>
            <a:r>
              <a:rPr sz="1575" b="1">
                <a:solidFill>
                  <a:srgbClr val="0D57B7"/>
                </a:solidFill>
              </a:rPr>
              <a:t>Funcțional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93EE8E-1EF9-465D-BC52-3D2B79DA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Data Analysis, Discovery, Library, Writing și Research Cases.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0F0CE9-C388-476B-B379-752DD8BF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4577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D57B7"/>
                </a:solidFill>
              </a:defRPr>
            </a:pPr>
            <a:r>
              <a:rPr sz="1575" b="1">
                <a:solidFill>
                  <a:srgbClr val="0D57B7"/>
                </a:solidFill>
              </a:rPr>
              <a:t>Securitate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608EC5-7A8B-4240-9815-E460E456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8577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Izolare utilizatori, input neîncrezător, limite, fișiere și Storage.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F58E9E-67AE-43FC-969D-A621BC98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577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D57B7"/>
                </a:solidFill>
              </a:defRPr>
            </a:pPr>
            <a:r>
              <a:rPr sz="1575" b="1">
                <a:solidFill>
                  <a:srgbClr val="0D57B7"/>
                </a:solidFill>
              </a:rPr>
              <a:t>Infrastructură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4F3202-2862-4F0A-B39F-B33CCC47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8577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PostgreSQL/RLS, cache, pipeline, migrare și fallback local.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82BE02-47ED-4E97-821A-9008B0ED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9775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7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2DCCD7-80C7-4EE5-A26A-3B9C4857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27A48"/>
                </a:solidFill>
              </a:defRPr>
            </a:pPr>
            <a:r>
              <a:rPr sz="1275" b="1">
                <a:solidFill>
                  <a:srgbClr val="027A48"/>
                </a:solidFill>
              </a:rPr>
              <a:t>Ultima verificare: 20 august 2026 · suita completă a rulat cu status OK.</a:t>
            </a:r>
          </a:p>
        </p:txBody>
      </p:sp>
      <p:sp>
        <p:nvSpPr>
          <p:cNvPr id="28" name="footer-14">
            <a:extLst xmlns:a="http://schemas.openxmlformats.org/drawingml/2006/main">
              <a:ext uri="{FF2B5EF4-FFF2-40B4-BE49-F238E27FC236}">
                <a16:creationId xmlns:a16="http://schemas.microsoft.com/office/drawing/2014/main" id="{2B90FE89-86BA-4162-B838-59290BBD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Vlad Ciripescu  ·  Research Journal AI  ·  CALITATE</a:t>
            </a:r>
          </a:p>
        </p:txBody>
      </p:sp>
      <p:sp>
        <p:nvSpPr>
          <p:cNvPr id="29" name="slide-number-14">
            <a:extLst xmlns:a="http://schemas.openxmlformats.org/drawingml/2006/main">
              <a:ext uri="{FF2B5EF4-FFF2-40B4-BE49-F238E27FC236}">
                <a16:creationId xmlns:a16="http://schemas.microsoft.com/office/drawing/2014/main" id="{DB4E1B70-BE0C-4A6E-9916-2D7435BA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8"/>
                </a:solidFill>
              </a:defRPr>
            </a:pPr>
            <a:r>
              <a:rPr sz="1050" b="1">
                <a:solidFill>
                  <a:srgbClr val="101828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2852450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CB1B04-A6D8-4974-8A98-5466385F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D2"/>
                </a:solidFill>
              </a:defRPr>
            </a:pPr>
            <a:r>
              <a:rPr sz="1050" b="1">
                <a:solidFill>
                  <a:srgbClr val="1769D2"/>
                </a:solidFill>
              </a:rPr>
              <a:t>CONCLUZIE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F13D69-6117-4B89-AF9C-003D0074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5725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828"/>
                </a:solidFill>
              </a:defRPr>
            </a:pPr>
            <a:r>
              <a:rPr sz="3450" b="1">
                <a:solidFill>
                  <a:srgbClr val="101828"/>
                </a:solidFill>
              </a:rPr>
              <a:t>Un singur fir: de la observație la manuscris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1790700" y="2800350"/>
            <a:ext cx="1085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0D5DD"/>
            </a:solidFill>
            <a:prstDash val="solid"/>
          </a:ln>
        </p:spPr>
      </p:cxnSp>
      <p:cxnSp>
        <p:nvCxnSpPr>
          <p:cNvPr id="35" name=""/>
          <p:cNvCxnSpPr/>
          <p:nvPr/>
        </p:nvCxnSpPr>
        <p:spPr>
          <a:xfrm xmlns:a="http://schemas.openxmlformats.org/drawingml/2006/main">
            <a:off x="3981450" y="2800350"/>
            <a:ext cx="1085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0D5DD"/>
            </a:solidFill>
            <a:prstDash val="solid"/>
          </a:ln>
        </p:spPr>
      </p:cxnSp>
      <p:cxnSp>
        <p:nvCxnSpPr>
          <p:cNvPr id="36" name=""/>
          <p:cNvCxnSpPr/>
          <p:nvPr/>
        </p:nvCxnSpPr>
        <p:spPr>
          <a:xfrm xmlns:a="http://schemas.openxmlformats.org/drawingml/2006/main">
            <a:off x="6172200" y="2800350"/>
            <a:ext cx="1085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0D5DD"/>
            </a:solidFill>
            <a:prstDash val="solid"/>
          </a:ln>
        </p:spPr>
      </p:cxnSp>
      <p:cxnSp>
        <p:nvCxnSpPr>
          <p:cNvPr id="37" name=""/>
          <p:cNvCxnSpPr/>
          <p:nvPr/>
        </p:nvCxnSpPr>
        <p:spPr>
          <a:xfrm xmlns:a="http://schemas.openxmlformats.org/drawingml/2006/main">
            <a:off x="8362950" y="2800350"/>
            <a:ext cx="1085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0D5DD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5289DC-CCC2-468A-95AE-2915F3AE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91F984-6046-4A1A-99DC-EDB4B314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289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9D2"/>
                </a:solidFill>
              </a:defRPr>
            </a:pPr>
            <a:r>
              <a:rPr sz="1275" b="1">
                <a:solidFill>
                  <a:srgbClr val="1769D2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19C443-DE14-4BB8-A7F1-D387CF69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718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Capturare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3AE65C-D895-47DE-98BB-5BB39764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003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02ABD4-2FEC-4E96-8CBA-76660803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289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9D2"/>
                </a:solidFill>
              </a:defRPr>
            </a:pPr>
            <a:r>
              <a:rPr sz="1275" b="1">
                <a:solidFill>
                  <a:srgbClr val="1769D2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4688F6-00EA-41B1-A5F9-BC3EB38E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3718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Înțelegere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9F8DE4-752A-4D8F-B738-56CCCD5C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003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24C99D-131B-4EB6-832E-604F2CDC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289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9D2"/>
                </a:solidFill>
              </a:defRPr>
            </a:pPr>
            <a:r>
              <a:rPr sz="1275" b="1">
                <a:solidFill>
                  <a:srgbClr val="1769D2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634FC7-7B29-4FAE-ABC8-44880E45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718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Literatură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63D561-DD59-4F11-A9B6-354CA218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003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651E9A-30F4-477C-9FFD-FCD37004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289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9D2"/>
                </a:solidFill>
              </a:defRPr>
            </a:pPr>
            <a:r>
              <a:rPr sz="1275" b="1">
                <a:solidFill>
                  <a:srgbClr val="1769D2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04BF80-098C-491F-B370-1652FF2E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718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Analiză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14148F-40F3-414B-A827-3B558FA7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003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9525">
            <a:solidFill>
              <a:srgbClr val="1769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4D1F51-F90E-4474-AE81-4DDD41B7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289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AA7ACC-3865-4164-BEC0-EE17075D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718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Redactare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12327E-6FC9-4145-8C14-80154EA3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1B658E-318F-4275-BFC8-AD6AA80F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339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D57B7"/>
                </a:solidFill>
              </a:defRPr>
            </a:pPr>
            <a:r>
              <a:rPr sz="1725" b="1">
                <a:solidFill>
                  <a:srgbClr val="0D57B7"/>
                </a:solidFill>
              </a:rPr>
              <a:t>Produs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C764C2-90D5-4011-BF4A-7B2319DF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0062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Un workflow coerent pentru munca reală a cercetătorului.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340E98-C5C8-47EA-9C89-42E476D7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5339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D57B7"/>
                </a:solidFill>
              </a:defRPr>
            </a:pPr>
            <a:r>
              <a:rPr sz="1725" b="1">
                <a:solidFill>
                  <a:srgbClr val="0D57B7"/>
                </a:solidFill>
              </a:rPr>
              <a:t>Inginerie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33842B-6864-4D2C-9A75-A87D3BEB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00062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Arhitectură modulară, cloud securizat și fallback-uri testabile.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9E7C71-E2A6-4F0C-A136-D9940647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339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D57B7"/>
                </a:solidFill>
              </a:defRPr>
            </a:pPr>
            <a:r>
              <a:rPr sz="1725" b="1">
                <a:solidFill>
                  <a:srgbClr val="0D57B7"/>
                </a:solidFill>
              </a:rPr>
              <a:t>AI responsabil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6914C1-D3EB-436C-AB22-AE382342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00062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Grounding, scheme, trasabilitate și control uman la fiecare etapă.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2CBA1C-28D8-4D9F-8355-43ECD2DF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Proiectul demonstrează o evoluție completă: idee → produs → infrastructură → validare.</a:t>
            </a:r>
          </a:p>
        </p:txBody>
      </p:sp>
      <p:sp>
        <p:nvSpPr>
          <p:cNvPr id="30" name="footer-15">
            <a:extLst xmlns:a="http://schemas.openxmlformats.org/drawingml/2006/main">
              <a:ext uri="{FF2B5EF4-FFF2-40B4-BE49-F238E27FC236}">
                <a16:creationId xmlns:a16="http://schemas.microsoft.com/office/drawing/2014/main" id="{6F04444A-FF0E-450B-B76A-958912FF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Vlad Ciripescu  ·  Research Journal AI  ·  CONCLUZIE</a:t>
            </a:r>
          </a:p>
        </p:txBody>
      </p:sp>
      <p:sp>
        <p:nvSpPr>
          <p:cNvPr id="31" name="slide-number-15">
            <a:extLst xmlns:a="http://schemas.openxmlformats.org/drawingml/2006/main">
              <a:ext uri="{FF2B5EF4-FFF2-40B4-BE49-F238E27FC236}">
                <a16:creationId xmlns:a16="http://schemas.microsoft.com/office/drawing/2014/main" id="{C68018AE-33C0-4245-8073-AB6C426F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8"/>
                </a:solidFill>
              </a:defRPr>
            </a:pPr>
            <a:r>
              <a:rPr sz="1050" b="1">
                <a:solidFill>
                  <a:srgbClr val="101828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583851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2026-08-20T09:36:52.5460000Z</dcterms:created>
  <dcterms:modified xsi:type="dcterms:W3CDTF">2026-08-20T09:36:52.5460000Z</dcterms:modified>
</coreProperties>
</file>